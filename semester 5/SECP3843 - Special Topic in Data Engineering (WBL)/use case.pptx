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147483647" r:id="rId2"/>
    <p:sldId id="261" r:id="rId3"/>
    <p:sldId id="273" r:id="rId4"/>
    <p:sldId id="264" r:id="rId5"/>
    <p:sldId id="265" r:id="rId6"/>
    <p:sldId id="260" r:id="rId7"/>
    <p:sldId id="266" r:id="rId8"/>
    <p:sldId id="267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A3641F-E25B-2898-FD09-E5F27E3FAC78}" name="Howden, Robert" initials="HR" userId="S::rhowden@ppg.com::e88d204c-1904-4290-93e6-d4accfba1e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A9"/>
    <a:srgbClr val="008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4600" autoAdjust="0"/>
  </p:normalViewPr>
  <p:slideViewPr>
    <p:cSldViewPr snapToGrid="0">
      <p:cViewPr varScale="1">
        <p:scale>
          <a:sx n="60" d="100"/>
          <a:sy n="60" d="100"/>
        </p:scale>
        <p:origin x="251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, Man Shin (MAL)" userId="aebcc9ee-8f1a-40f8-b34a-0c9f48a55ec5" providerId="ADAL" clId="{886D05D1-749B-4C3A-9CE8-7F9476DC3D09}"/>
    <pc:docChg chg="delSld">
      <pc:chgData name="Lee, Man Shin (MAL)" userId="aebcc9ee-8f1a-40f8-b34a-0c9f48a55ec5" providerId="ADAL" clId="{886D05D1-749B-4C3A-9CE8-7F9476DC3D09}" dt="2026-04-14T00:20:57.070" v="0" actId="47"/>
      <pc:docMkLst>
        <pc:docMk/>
      </pc:docMkLst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1282275051" sldId="256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1209613646" sldId="257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1087015645" sldId="258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3253155149" sldId="259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3102762800" sldId="262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1317992114" sldId="268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3272927673" sldId="2147376030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2792761418" sldId="2147473242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2091399875" sldId="2147483461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308834034" sldId="2147483464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3845408945" sldId="2147483644"/>
        </pc:sldMkLst>
      </pc:sldChg>
      <pc:sldChg chg="del">
        <pc:chgData name="Lee, Man Shin (MAL)" userId="aebcc9ee-8f1a-40f8-b34a-0c9f48a55ec5" providerId="ADAL" clId="{886D05D1-749B-4C3A-9CE8-7F9476DC3D09}" dt="2026-04-14T00:20:57.070" v="0" actId="47"/>
        <pc:sldMkLst>
          <pc:docMk/>
          <pc:sldMk cId="2000366183" sldId="21474836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49EDC-6336-4A2D-8018-E5C18E2D9BA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9D699-EC53-419D-A6D7-D307FDB53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9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6885E9EC-8630-808A-0BDB-67F3CDF09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2391" y="0"/>
            <a:ext cx="6599610" cy="6858000"/>
          </a:xfrm>
          <a:prstGeom prst="rect">
            <a:avLst/>
          </a:prstGeom>
        </p:spPr>
      </p:pic>
      <p:pic>
        <p:nvPicPr>
          <p:cNvPr id="13" name="Logo with Tagline">
            <a:extLst>
              <a:ext uri="{FF2B5EF4-FFF2-40B4-BE49-F238E27FC236}">
                <a16:creationId xmlns:a16="http://schemas.microsoft.com/office/drawing/2014/main" id="{E69FD70C-FE29-3B43-BBC9-4F82FE262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6432"/>
          <a:stretch/>
        </p:blipFill>
        <p:spPr>
          <a:xfrm>
            <a:off x="9078186" y="5593642"/>
            <a:ext cx="3040770" cy="12643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061" y="1676400"/>
            <a:ext cx="4115872" cy="16002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61" y="3429000"/>
            <a:ext cx="4115872" cy="9715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062" y="4441513"/>
            <a:ext cx="3292697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  <p:pic>
        <p:nvPicPr>
          <p:cNvPr id="15" name="Catalyst Top Crop">
            <a:extLst>
              <a:ext uri="{FF2B5EF4-FFF2-40B4-BE49-F238E27FC236}">
                <a16:creationId xmlns:a16="http://schemas.microsoft.com/office/drawing/2014/main" id="{48DF9552-C1C2-DF47-80BD-BD73B391F9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2318" y="0"/>
            <a:ext cx="2319682" cy="2743200"/>
          </a:xfrm>
          <a:prstGeom prst="rect">
            <a:avLst/>
          </a:prstGeom>
        </p:spPr>
      </p:pic>
      <p:pic>
        <p:nvPicPr>
          <p:cNvPr id="11" name="Catalyst Middle">
            <a:extLst>
              <a:ext uri="{FF2B5EF4-FFF2-40B4-BE49-F238E27FC236}">
                <a16:creationId xmlns:a16="http://schemas.microsoft.com/office/drawing/2014/main" id="{647D030E-7E54-3240-B6B3-75F708E9972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5021364" y="859536"/>
            <a:ext cx="5373931" cy="4745736"/>
          </a:xfrm>
          <a:prstGeom prst="rect">
            <a:avLst/>
          </a:prstGeom>
        </p:spPr>
      </p:pic>
      <p:pic>
        <p:nvPicPr>
          <p:cNvPr id="12" name="Catalyst Bottom">
            <a:extLst>
              <a:ext uri="{FF2B5EF4-FFF2-40B4-BE49-F238E27FC236}">
                <a16:creationId xmlns:a16="http://schemas.microsoft.com/office/drawing/2014/main" id="{45355A85-5EBE-0D45-B42B-66BD498C2B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31724" y="4745736"/>
            <a:ext cx="2122651" cy="1874520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7919F7-D055-B8B0-8C5B-232D8F890B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0430" y="1221979"/>
            <a:ext cx="4648067" cy="4022759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4949506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6885E9EC-8630-808A-0BDB-67F3CDF09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2391" y="0"/>
            <a:ext cx="6599610" cy="6858000"/>
          </a:xfrm>
          <a:prstGeom prst="rect">
            <a:avLst/>
          </a:prstGeom>
        </p:spPr>
      </p:pic>
      <p:pic>
        <p:nvPicPr>
          <p:cNvPr id="13" name="Logo with Tagline">
            <a:extLst>
              <a:ext uri="{FF2B5EF4-FFF2-40B4-BE49-F238E27FC236}">
                <a16:creationId xmlns:a16="http://schemas.microsoft.com/office/drawing/2014/main" id="{E69FD70C-FE29-3B43-BBC9-4F82FE262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6432"/>
          <a:stretch/>
        </p:blipFill>
        <p:spPr>
          <a:xfrm>
            <a:off x="9078186" y="5593642"/>
            <a:ext cx="3040770" cy="12643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061" y="1676400"/>
            <a:ext cx="4115872" cy="16002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61" y="3429000"/>
            <a:ext cx="4115872" cy="9715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062" y="4441513"/>
            <a:ext cx="3292697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  <p:pic>
        <p:nvPicPr>
          <p:cNvPr id="9" name="Catalyst Middle">
            <a:extLst>
              <a:ext uri="{FF2B5EF4-FFF2-40B4-BE49-F238E27FC236}">
                <a16:creationId xmlns:a16="http://schemas.microsoft.com/office/drawing/2014/main" id="{BCA54899-DCD6-3DD7-8E0B-CB5132599D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5819283" y="391191"/>
            <a:ext cx="3216826" cy="2840789"/>
          </a:xfrm>
          <a:prstGeom prst="rect">
            <a:avLst/>
          </a:prstGeom>
        </p:spPr>
      </p:pic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97D07334-2A4D-8BFD-D2DD-C38323B7D4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7638" y="606604"/>
            <a:ext cx="2782325" cy="2408016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  <p:pic>
        <p:nvPicPr>
          <p:cNvPr id="28" name="Catalyst Middle">
            <a:extLst>
              <a:ext uri="{FF2B5EF4-FFF2-40B4-BE49-F238E27FC236}">
                <a16:creationId xmlns:a16="http://schemas.microsoft.com/office/drawing/2014/main" id="{39976B60-29C2-8F17-D79A-F16BFAB50B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8405113" y="1886100"/>
            <a:ext cx="3216826" cy="2840789"/>
          </a:xfrm>
          <a:prstGeom prst="rect">
            <a:avLst/>
          </a:prstGeom>
        </p:spPr>
      </p:pic>
      <p:sp>
        <p:nvSpPr>
          <p:cNvPr id="29" name="Picture Placeholder 22">
            <a:extLst>
              <a:ext uri="{FF2B5EF4-FFF2-40B4-BE49-F238E27FC236}">
                <a16:creationId xmlns:a16="http://schemas.microsoft.com/office/drawing/2014/main" id="{9B211F8F-497A-712F-767B-71ECA2659B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623467" y="2101513"/>
            <a:ext cx="2782325" cy="2408016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  <p:pic>
        <p:nvPicPr>
          <p:cNvPr id="16" name="Catalyst Middle">
            <a:extLst>
              <a:ext uri="{FF2B5EF4-FFF2-40B4-BE49-F238E27FC236}">
                <a16:creationId xmlns:a16="http://schemas.microsoft.com/office/drawing/2014/main" id="{0FC22CBA-A093-DE7F-A3FD-856B8982BC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5819283" y="3425123"/>
            <a:ext cx="3216826" cy="2840789"/>
          </a:xfrm>
          <a:prstGeom prst="rect">
            <a:avLst/>
          </a:prstGeom>
        </p:spPr>
      </p:pic>
      <p:sp>
        <p:nvSpPr>
          <p:cNvPr id="17" name="Picture Placeholder 22">
            <a:extLst>
              <a:ext uri="{FF2B5EF4-FFF2-40B4-BE49-F238E27FC236}">
                <a16:creationId xmlns:a16="http://schemas.microsoft.com/office/drawing/2014/main" id="{98AE1259-66D0-81F0-3958-349D90F1DEB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37638" y="3640536"/>
            <a:ext cx="2782325" cy="2408016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4233470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6885E9EC-8630-808A-0BDB-67F3CDF09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2391" y="0"/>
            <a:ext cx="6599610" cy="6858000"/>
          </a:xfrm>
          <a:prstGeom prst="rect">
            <a:avLst/>
          </a:prstGeom>
        </p:spPr>
      </p:pic>
      <p:pic>
        <p:nvPicPr>
          <p:cNvPr id="13" name="Logo with Tagline">
            <a:extLst>
              <a:ext uri="{FF2B5EF4-FFF2-40B4-BE49-F238E27FC236}">
                <a16:creationId xmlns:a16="http://schemas.microsoft.com/office/drawing/2014/main" id="{E69FD70C-FE29-3B43-BBC9-4F82FE262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6432"/>
          <a:stretch/>
        </p:blipFill>
        <p:spPr>
          <a:xfrm>
            <a:off x="9078186" y="5593642"/>
            <a:ext cx="3040770" cy="12643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061" y="1676400"/>
            <a:ext cx="4115872" cy="16002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61" y="3429000"/>
            <a:ext cx="4115872" cy="9715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062" y="4441513"/>
            <a:ext cx="3292697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  <p:pic>
        <p:nvPicPr>
          <p:cNvPr id="11" name="Catalyst Middle">
            <a:extLst>
              <a:ext uri="{FF2B5EF4-FFF2-40B4-BE49-F238E27FC236}">
                <a16:creationId xmlns:a16="http://schemas.microsoft.com/office/drawing/2014/main" id="{647D030E-7E54-3240-B6B3-75F708E9972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6151398" y="1488784"/>
            <a:ext cx="2749092" cy="2427732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7919F7-D055-B8B0-8C5B-232D8F890B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36971" y="1674599"/>
            <a:ext cx="2377768" cy="2057885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  <p:pic>
        <p:nvPicPr>
          <p:cNvPr id="16" name="Catalyst Middle">
            <a:extLst>
              <a:ext uri="{FF2B5EF4-FFF2-40B4-BE49-F238E27FC236}">
                <a16:creationId xmlns:a16="http://schemas.microsoft.com/office/drawing/2014/main" id="{BB4E4970-B3B9-1CEE-CF01-CD2FE54E49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8359146" y="2780571"/>
            <a:ext cx="2749092" cy="2427732"/>
          </a:xfrm>
          <a:prstGeom prst="rect">
            <a:avLst/>
          </a:prstGeom>
        </p:spPr>
      </p:pic>
      <p:sp>
        <p:nvSpPr>
          <p:cNvPr id="17" name="Picture Placeholder 22">
            <a:extLst>
              <a:ext uri="{FF2B5EF4-FFF2-40B4-BE49-F238E27FC236}">
                <a16:creationId xmlns:a16="http://schemas.microsoft.com/office/drawing/2014/main" id="{59D43888-0033-C421-3EB8-45BF86312CD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41543" y="2966386"/>
            <a:ext cx="2377768" cy="2057885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  <p:pic>
        <p:nvPicPr>
          <p:cNvPr id="18" name="Catalyst Middle">
            <a:extLst>
              <a:ext uri="{FF2B5EF4-FFF2-40B4-BE49-F238E27FC236}">
                <a16:creationId xmlns:a16="http://schemas.microsoft.com/office/drawing/2014/main" id="{4EFA564D-CCEF-130F-B91C-D16D5D4BC8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6119860" y="4032287"/>
            <a:ext cx="2749092" cy="2427732"/>
          </a:xfrm>
          <a:prstGeom prst="rect">
            <a:avLst/>
          </a:prstGeom>
        </p:spPr>
      </p:pic>
      <p:sp>
        <p:nvSpPr>
          <p:cNvPr id="19" name="Picture Placeholder 22">
            <a:extLst>
              <a:ext uri="{FF2B5EF4-FFF2-40B4-BE49-F238E27FC236}">
                <a16:creationId xmlns:a16="http://schemas.microsoft.com/office/drawing/2014/main" id="{65E519A1-1B62-AF77-5838-F8DE2003867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05433" y="4218102"/>
            <a:ext cx="2377768" cy="2057885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  <p:pic>
        <p:nvPicPr>
          <p:cNvPr id="20" name="Catalyst Middle">
            <a:extLst>
              <a:ext uri="{FF2B5EF4-FFF2-40B4-BE49-F238E27FC236}">
                <a16:creationId xmlns:a16="http://schemas.microsoft.com/office/drawing/2014/main" id="{55AF0043-D43A-AB2D-7860-2CF4A6F88A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8371269" y="237068"/>
            <a:ext cx="2749092" cy="2427732"/>
          </a:xfrm>
          <a:prstGeom prst="rect">
            <a:avLst/>
          </a:prstGeom>
        </p:spPr>
      </p:pic>
      <p:sp>
        <p:nvSpPr>
          <p:cNvPr id="21" name="Picture Placeholder 22">
            <a:extLst>
              <a:ext uri="{FF2B5EF4-FFF2-40B4-BE49-F238E27FC236}">
                <a16:creationId xmlns:a16="http://schemas.microsoft.com/office/drawing/2014/main" id="{9C8757CA-5DFD-E0B9-FA6C-A09433E2E3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842" y="422883"/>
            <a:ext cx="2377768" cy="2057885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451B0D-D166-4EF4-2568-77D758F098AB}"/>
              </a:ext>
            </a:extLst>
          </p:cNvPr>
          <p:cNvSpPr/>
          <p:nvPr userDrawn="1"/>
        </p:nvSpPr>
        <p:spPr>
          <a:xfrm>
            <a:off x="12443857" y="-115771"/>
            <a:ext cx="115801" cy="11577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83427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ADDB2375-B7B9-5302-78BD-7ECBA1C10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flipH="1">
            <a:off x="0" y="343"/>
            <a:ext cx="12195179" cy="6857314"/>
          </a:xfrm>
          <a:prstGeom prst="rect">
            <a:avLst/>
          </a:prstGeom>
        </p:spPr>
      </p:pic>
      <p:pic>
        <p:nvPicPr>
          <p:cNvPr id="11" name="Logo with Tagline">
            <a:extLst>
              <a:ext uri="{FF2B5EF4-FFF2-40B4-BE49-F238E27FC236}">
                <a16:creationId xmlns:a16="http://schemas.microsoft.com/office/drawing/2014/main" id="{2A09BB6E-5DFA-F442-8C03-5F128E7B8E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6432"/>
          <a:stretch/>
        </p:blipFill>
        <p:spPr>
          <a:xfrm>
            <a:off x="9078186" y="5593642"/>
            <a:ext cx="3040770" cy="12643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20089" y="1676398"/>
            <a:ext cx="4939046" cy="1600202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0089" y="3429000"/>
            <a:ext cx="4939046" cy="9692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20090" y="4443985"/>
            <a:ext cx="3302804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1B5A740A-1FEA-1447-A422-AF60AFB71AB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530351"/>
            <a:ext cx="4902461" cy="6327648"/>
          </a:xfrm>
          <a:custGeom>
            <a:avLst/>
            <a:gdLst>
              <a:gd name="connsiteX0" fmla="*/ 0 w 4901184"/>
              <a:gd name="connsiteY0" fmla="*/ 0 h 6327648"/>
              <a:gd name="connsiteX1" fmla="*/ 2788333 w 4901184"/>
              <a:gd name="connsiteY1" fmla="*/ 0 h 6327648"/>
              <a:gd name="connsiteX2" fmla="*/ 4901184 w 4901184"/>
              <a:gd name="connsiteY2" fmla="*/ 3163824 h 6327648"/>
              <a:gd name="connsiteX3" fmla="*/ 2788333 w 4901184"/>
              <a:gd name="connsiteY3" fmla="*/ 6327648 h 6327648"/>
              <a:gd name="connsiteX4" fmla="*/ 0 w 4901184"/>
              <a:gd name="connsiteY4" fmla="*/ 6327648 h 6327648"/>
              <a:gd name="connsiteX5" fmla="*/ 0 w 4901184"/>
              <a:gd name="connsiteY5" fmla="*/ 0 h 6327648"/>
              <a:gd name="connsiteX0" fmla="*/ 0 w 4901184"/>
              <a:gd name="connsiteY0" fmla="*/ 0 h 6333998"/>
              <a:gd name="connsiteX1" fmla="*/ 2788333 w 4901184"/>
              <a:gd name="connsiteY1" fmla="*/ 0 h 6333998"/>
              <a:gd name="connsiteX2" fmla="*/ 4901184 w 4901184"/>
              <a:gd name="connsiteY2" fmla="*/ 3163824 h 6333998"/>
              <a:gd name="connsiteX3" fmla="*/ 3366183 w 4901184"/>
              <a:gd name="connsiteY3" fmla="*/ 6333998 h 6333998"/>
              <a:gd name="connsiteX4" fmla="*/ 0 w 4901184"/>
              <a:gd name="connsiteY4" fmla="*/ 6327648 h 6333998"/>
              <a:gd name="connsiteX5" fmla="*/ 0 w 4901184"/>
              <a:gd name="connsiteY5" fmla="*/ 0 h 6333998"/>
              <a:gd name="connsiteX0" fmla="*/ 0 w 4901184"/>
              <a:gd name="connsiteY0" fmla="*/ 0 h 6337173"/>
              <a:gd name="connsiteX1" fmla="*/ 2788333 w 4901184"/>
              <a:gd name="connsiteY1" fmla="*/ 0 h 6337173"/>
              <a:gd name="connsiteX2" fmla="*/ 4901184 w 4901184"/>
              <a:gd name="connsiteY2" fmla="*/ 3163824 h 6337173"/>
              <a:gd name="connsiteX3" fmla="*/ 3366183 w 4901184"/>
              <a:gd name="connsiteY3" fmla="*/ 6337173 h 6337173"/>
              <a:gd name="connsiteX4" fmla="*/ 0 w 4901184"/>
              <a:gd name="connsiteY4" fmla="*/ 6327648 h 6337173"/>
              <a:gd name="connsiteX5" fmla="*/ 0 w 4901184"/>
              <a:gd name="connsiteY5" fmla="*/ 0 h 6337173"/>
              <a:gd name="connsiteX0" fmla="*/ 0 w 4901184"/>
              <a:gd name="connsiteY0" fmla="*/ 0 h 6333998"/>
              <a:gd name="connsiteX1" fmla="*/ 2788333 w 4901184"/>
              <a:gd name="connsiteY1" fmla="*/ 0 h 6333998"/>
              <a:gd name="connsiteX2" fmla="*/ 4901184 w 4901184"/>
              <a:gd name="connsiteY2" fmla="*/ 3163824 h 6333998"/>
              <a:gd name="connsiteX3" fmla="*/ 3366183 w 4901184"/>
              <a:gd name="connsiteY3" fmla="*/ 6333998 h 6333998"/>
              <a:gd name="connsiteX4" fmla="*/ 0 w 4901184"/>
              <a:gd name="connsiteY4" fmla="*/ 6327648 h 6333998"/>
              <a:gd name="connsiteX5" fmla="*/ 0 w 4901184"/>
              <a:gd name="connsiteY5" fmla="*/ 0 h 6333998"/>
              <a:gd name="connsiteX0" fmla="*/ 0 w 4901184"/>
              <a:gd name="connsiteY0" fmla="*/ 0 h 6330823"/>
              <a:gd name="connsiteX1" fmla="*/ 2788333 w 4901184"/>
              <a:gd name="connsiteY1" fmla="*/ 0 h 6330823"/>
              <a:gd name="connsiteX2" fmla="*/ 4901184 w 4901184"/>
              <a:gd name="connsiteY2" fmla="*/ 3163824 h 6330823"/>
              <a:gd name="connsiteX3" fmla="*/ 3375708 w 4901184"/>
              <a:gd name="connsiteY3" fmla="*/ 6330823 h 6330823"/>
              <a:gd name="connsiteX4" fmla="*/ 0 w 4901184"/>
              <a:gd name="connsiteY4" fmla="*/ 6327648 h 6330823"/>
              <a:gd name="connsiteX5" fmla="*/ 0 w 4901184"/>
              <a:gd name="connsiteY5" fmla="*/ 0 h 6330823"/>
              <a:gd name="connsiteX0" fmla="*/ 0 w 4907534"/>
              <a:gd name="connsiteY0" fmla="*/ 0 h 6330823"/>
              <a:gd name="connsiteX1" fmla="*/ 2788333 w 4907534"/>
              <a:gd name="connsiteY1" fmla="*/ 0 h 6330823"/>
              <a:gd name="connsiteX2" fmla="*/ 4907534 w 4907534"/>
              <a:gd name="connsiteY2" fmla="*/ 3662299 h 6330823"/>
              <a:gd name="connsiteX3" fmla="*/ 3375708 w 4907534"/>
              <a:gd name="connsiteY3" fmla="*/ 6330823 h 6330823"/>
              <a:gd name="connsiteX4" fmla="*/ 0 w 4907534"/>
              <a:gd name="connsiteY4" fmla="*/ 6327648 h 6330823"/>
              <a:gd name="connsiteX5" fmla="*/ 0 w 4907534"/>
              <a:gd name="connsiteY5" fmla="*/ 0 h 6330823"/>
              <a:gd name="connsiteX0" fmla="*/ 0 w 4907534"/>
              <a:gd name="connsiteY0" fmla="*/ 0 h 6327648"/>
              <a:gd name="connsiteX1" fmla="*/ 2788333 w 4907534"/>
              <a:gd name="connsiteY1" fmla="*/ 0 h 6327648"/>
              <a:gd name="connsiteX2" fmla="*/ 4907534 w 4907534"/>
              <a:gd name="connsiteY2" fmla="*/ 3662299 h 6327648"/>
              <a:gd name="connsiteX3" fmla="*/ 3372533 w 4907534"/>
              <a:gd name="connsiteY3" fmla="*/ 6311773 h 6327648"/>
              <a:gd name="connsiteX4" fmla="*/ 0 w 4907534"/>
              <a:gd name="connsiteY4" fmla="*/ 6327648 h 6327648"/>
              <a:gd name="connsiteX5" fmla="*/ 0 w 4907534"/>
              <a:gd name="connsiteY5" fmla="*/ 0 h 6327648"/>
              <a:gd name="connsiteX0" fmla="*/ 0 w 4907534"/>
              <a:gd name="connsiteY0" fmla="*/ 0 h 6327648"/>
              <a:gd name="connsiteX1" fmla="*/ 2788333 w 4907534"/>
              <a:gd name="connsiteY1" fmla="*/ 0 h 6327648"/>
              <a:gd name="connsiteX2" fmla="*/ 4907534 w 4907534"/>
              <a:gd name="connsiteY2" fmla="*/ 3662299 h 6327648"/>
              <a:gd name="connsiteX3" fmla="*/ 3363008 w 4907534"/>
              <a:gd name="connsiteY3" fmla="*/ 6327648 h 6327648"/>
              <a:gd name="connsiteX4" fmla="*/ 0 w 4907534"/>
              <a:gd name="connsiteY4" fmla="*/ 6327648 h 6327648"/>
              <a:gd name="connsiteX5" fmla="*/ 0 w 4907534"/>
              <a:gd name="connsiteY5" fmla="*/ 0 h 6327648"/>
              <a:gd name="connsiteX0" fmla="*/ 0 w 4809109"/>
              <a:gd name="connsiteY0" fmla="*/ 0 h 6327648"/>
              <a:gd name="connsiteX1" fmla="*/ 2788333 w 4809109"/>
              <a:gd name="connsiteY1" fmla="*/ 0 h 6327648"/>
              <a:gd name="connsiteX2" fmla="*/ 4809109 w 4809109"/>
              <a:gd name="connsiteY2" fmla="*/ 3681349 h 6327648"/>
              <a:gd name="connsiteX3" fmla="*/ 3363008 w 4809109"/>
              <a:gd name="connsiteY3" fmla="*/ 6327648 h 6327648"/>
              <a:gd name="connsiteX4" fmla="*/ 0 w 4809109"/>
              <a:gd name="connsiteY4" fmla="*/ 6327648 h 6327648"/>
              <a:gd name="connsiteX5" fmla="*/ 0 w 4809109"/>
              <a:gd name="connsiteY5" fmla="*/ 0 h 6327648"/>
              <a:gd name="connsiteX0" fmla="*/ 0 w 4901184"/>
              <a:gd name="connsiteY0" fmla="*/ 0 h 6327648"/>
              <a:gd name="connsiteX1" fmla="*/ 2788333 w 4901184"/>
              <a:gd name="connsiteY1" fmla="*/ 0 h 6327648"/>
              <a:gd name="connsiteX2" fmla="*/ 4901184 w 4901184"/>
              <a:gd name="connsiteY2" fmla="*/ 3659124 h 6327648"/>
              <a:gd name="connsiteX3" fmla="*/ 3363008 w 4901184"/>
              <a:gd name="connsiteY3" fmla="*/ 6327648 h 6327648"/>
              <a:gd name="connsiteX4" fmla="*/ 0 w 4901184"/>
              <a:gd name="connsiteY4" fmla="*/ 6327648 h 6327648"/>
              <a:gd name="connsiteX5" fmla="*/ 0 w 4901184"/>
              <a:gd name="connsiteY5" fmla="*/ 0 h 63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1184" h="6327648">
                <a:moveTo>
                  <a:pt x="0" y="0"/>
                </a:moveTo>
                <a:lnTo>
                  <a:pt x="2788333" y="0"/>
                </a:lnTo>
                <a:lnTo>
                  <a:pt x="4901184" y="3659124"/>
                </a:lnTo>
                <a:lnTo>
                  <a:pt x="3363008" y="6327648"/>
                </a:lnTo>
                <a:lnTo>
                  <a:pt x="0" y="63276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69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ADDB2375-B7B9-5302-78BD-7ECBA1C10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flipH="1">
            <a:off x="611" y="343"/>
            <a:ext cx="12193956" cy="6857314"/>
          </a:xfrm>
          <a:prstGeom prst="rect">
            <a:avLst/>
          </a:prstGeom>
        </p:spPr>
      </p:pic>
      <p:pic>
        <p:nvPicPr>
          <p:cNvPr id="10" name="Logo with Tagline">
            <a:extLst>
              <a:ext uri="{FF2B5EF4-FFF2-40B4-BE49-F238E27FC236}">
                <a16:creationId xmlns:a16="http://schemas.microsoft.com/office/drawing/2014/main" id="{212DEFA9-E048-FB44-B75C-617880598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6432"/>
          <a:stretch/>
        </p:blipFill>
        <p:spPr>
          <a:xfrm>
            <a:off x="9078186" y="5593642"/>
            <a:ext cx="3040770" cy="12643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0964" y="1676398"/>
            <a:ext cx="5625025" cy="1600202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0964" y="3429000"/>
            <a:ext cx="5625025" cy="9692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90963" y="4443985"/>
            <a:ext cx="3658553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C9C115-9D0B-7C4E-8B9F-BB6BA52A36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530351"/>
            <a:ext cx="4902461" cy="6327648"/>
          </a:xfrm>
          <a:custGeom>
            <a:avLst/>
            <a:gdLst>
              <a:gd name="connsiteX0" fmla="*/ 0 w 4901184"/>
              <a:gd name="connsiteY0" fmla="*/ 0 h 6327648"/>
              <a:gd name="connsiteX1" fmla="*/ 2788333 w 4901184"/>
              <a:gd name="connsiteY1" fmla="*/ 0 h 6327648"/>
              <a:gd name="connsiteX2" fmla="*/ 4901184 w 4901184"/>
              <a:gd name="connsiteY2" fmla="*/ 3163824 h 6327648"/>
              <a:gd name="connsiteX3" fmla="*/ 2788333 w 4901184"/>
              <a:gd name="connsiteY3" fmla="*/ 6327648 h 6327648"/>
              <a:gd name="connsiteX4" fmla="*/ 0 w 4901184"/>
              <a:gd name="connsiteY4" fmla="*/ 6327648 h 6327648"/>
              <a:gd name="connsiteX5" fmla="*/ 0 w 4901184"/>
              <a:gd name="connsiteY5" fmla="*/ 0 h 6327648"/>
              <a:gd name="connsiteX0" fmla="*/ 0 w 4901184"/>
              <a:gd name="connsiteY0" fmla="*/ 0 h 6333998"/>
              <a:gd name="connsiteX1" fmla="*/ 2788333 w 4901184"/>
              <a:gd name="connsiteY1" fmla="*/ 0 h 6333998"/>
              <a:gd name="connsiteX2" fmla="*/ 4901184 w 4901184"/>
              <a:gd name="connsiteY2" fmla="*/ 3163824 h 6333998"/>
              <a:gd name="connsiteX3" fmla="*/ 3366183 w 4901184"/>
              <a:gd name="connsiteY3" fmla="*/ 6333998 h 6333998"/>
              <a:gd name="connsiteX4" fmla="*/ 0 w 4901184"/>
              <a:gd name="connsiteY4" fmla="*/ 6327648 h 6333998"/>
              <a:gd name="connsiteX5" fmla="*/ 0 w 4901184"/>
              <a:gd name="connsiteY5" fmla="*/ 0 h 6333998"/>
              <a:gd name="connsiteX0" fmla="*/ 0 w 4901184"/>
              <a:gd name="connsiteY0" fmla="*/ 0 h 6337173"/>
              <a:gd name="connsiteX1" fmla="*/ 2788333 w 4901184"/>
              <a:gd name="connsiteY1" fmla="*/ 0 h 6337173"/>
              <a:gd name="connsiteX2" fmla="*/ 4901184 w 4901184"/>
              <a:gd name="connsiteY2" fmla="*/ 3163824 h 6337173"/>
              <a:gd name="connsiteX3" fmla="*/ 3366183 w 4901184"/>
              <a:gd name="connsiteY3" fmla="*/ 6337173 h 6337173"/>
              <a:gd name="connsiteX4" fmla="*/ 0 w 4901184"/>
              <a:gd name="connsiteY4" fmla="*/ 6327648 h 6337173"/>
              <a:gd name="connsiteX5" fmla="*/ 0 w 4901184"/>
              <a:gd name="connsiteY5" fmla="*/ 0 h 6337173"/>
              <a:gd name="connsiteX0" fmla="*/ 0 w 4901184"/>
              <a:gd name="connsiteY0" fmla="*/ 0 h 6333998"/>
              <a:gd name="connsiteX1" fmla="*/ 2788333 w 4901184"/>
              <a:gd name="connsiteY1" fmla="*/ 0 h 6333998"/>
              <a:gd name="connsiteX2" fmla="*/ 4901184 w 4901184"/>
              <a:gd name="connsiteY2" fmla="*/ 3163824 h 6333998"/>
              <a:gd name="connsiteX3" fmla="*/ 3366183 w 4901184"/>
              <a:gd name="connsiteY3" fmla="*/ 6333998 h 6333998"/>
              <a:gd name="connsiteX4" fmla="*/ 0 w 4901184"/>
              <a:gd name="connsiteY4" fmla="*/ 6327648 h 6333998"/>
              <a:gd name="connsiteX5" fmla="*/ 0 w 4901184"/>
              <a:gd name="connsiteY5" fmla="*/ 0 h 6333998"/>
              <a:gd name="connsiteX0" fmla="*/ 0 w 4901184"/>
              <a:gd name="connsiteY0" fmla="*/ 0 h 6330823"/>
              <a:gd name="connsiteX1" fmla="*/ 2788333 w 4901184"/>
              <a:gd name="connsiteY1" fmla="*/ 0 h 6330823"/>
              <a:gd name="connsiteX2" fmla="*/ 4901184 w 4901184"/>
              <a:gd name="connsiteY2" fmla="*/ 3163824 h 6330823"/>
              <a:gd name="connsiteX3" fmla="*/ 3375708 w 4901184"/>
              <a:gd name="connsiteY3" fmla="*/ 6330823 h 6330823"/>
              <a:gd name="connsiteX4" fmla="*/ 0 w 4901184"/>
              <a:gd name="connsiteY4" fmla="*/ 6327648 h 6330823"/>
              <a:gd name="connsiteX5" fmla="*/ 0 w 4901184"/>
              <a:gd name="connsiteY5" fmla="*/ 0 h 6330823"/>
              <a:gd name="connsiteX0" fmla="*/ 0 w 4907534"/>
              <a:gd name="connsiteY0" fmla="*/ 0 h 6330823"/>
              <a:gd name="connsiteX1" fmla="*/ 2788333 w 4907534"/>
              <a:gd name="connsiteY1" fmla="*/ 0 h 6330823"/>
              <a:gd name="connsiteX2" fmla="*/ 4907534 w 4907534"/>
              <a:gd name="connsiteY2" fmla="*/ 3662299 h 6330823"/>
              <a:gd name="connsiteX3" fmla="*/ 3375708 w 4907534"/>
              <a:gd name="connsiteY3" fmla="*/ 6330823 h 6330823"/>
              <a:gd name="connsiteX4" fmla="*/ 0 w 4907534"/>
              <a:gd name="connsiteY4" fmla="*/ 6327648 h 6330823"/>
              <a:gd name="connsiteX5" fmla="*/ 0 w 4907534"/>
              <a:gd name="connsiteY5" fmla="*/ 0 h 6330823"/>
              <a:gd name="connsiteX0" fmla="*/ 0 w 4907534"/>
              <a:gd name="connsiteY0" fmla="*/ 0 h 6327648"/>
              <a:gd name="connsiteX1" fmla="*/ 2788333 w 4907534"/>
              <a:gd name="connsiteY1" fmla="*/ 0 h 6327648"/>
              <a:gd name="connsiteX2" fmla="*/ 4907534 w 4907534"/>
              <a:gd name="connsiteY2" fmla="*/ 3662299 h 6327648"/>
              <a:gd name="connsiteX3" fmla="*/ 3372533 w 4907534"/>
              <a:gd name="connsiteY3" fmla="*/ 6311773 h 6327648"/>
              <a:gd name="connsiteX4" fmla="*/ 0 w 4907534"/>
              <a:gd name="connsiteY4" fmla="*/ 6327648 h 6327648"/>
              <a:gd name="connsiteX5" fmla="*/ 0 w 4907534"/>
              <a:gd name="connsiteY5" fmla="*/ 0 h 6327648"/>
              <a:gd name="connsiteX0" fmla="*/ 0 w 4907534"/>
              <a:gd name="connsiteY0" fmla="*/ 0 h 6327648"/>
              <a:gd name="connsiteX1" fmla="*/ 2788333 w 4907534"/>
              <a:gd name="connsiteY1" fmla="*/ 0 h 6327648"/>
              <a:gd name="connsiteX2" fmla="*/ 4907534 w 4907534"/>
              <a:gd name="connsiteY2" fmla="*/ 3662299 h 6327648"/>
              <a:gd name="connsiteX3" fmla="*/ 3363008 w 4907534"/>
              <a:gd name="connsiteY3" fmla="*/ 6327648 h 6327648"/>
              <a:gd name="connsiteX4" fmla="*/ 0 w 4907534"/>
              <a:gd name="connsiteY4" fmla="*/ 6327648 h 6327648"/>
              <a:gd name="connsiteX5" fmla="*/ 0 w 4907534"/>
              <a:gd name="connsiteY5" fmla="*/ 0 h 6327648"/>
              <a:gd name="connsiteX0" fmla="*/ 0 w 4809109"/>
              <a:gd name="connsiteY0" fmla="*/ 0 h 6327648"/>
              <a:gd name="connsiteX1" fmla="*/ 2788333 w 4809109"/>
              <a:gd name="connsiteY1" fmla="*/ 0 h 6327648"/>
              <a:gd name="connsiteX2" fmla="*/ 4809109 w 4809109"/>
              <a:gd name="connsiteY2" fmla="*/ 3681349 h 6327648"/>
              <a:gd name="connsiteX3" fmla="*/ 3363008 w 4809109"/>
              <a:gd name="connsiteY3" fmla="*/ 6327648 h 6327648"/>
              <a:gd name="connsiteX4" fmla="*/ 0 w 4809109"/>
              <a:gd name="connsiteY4" fmla="*/ 6327648 h 6327648"/>
              <a:gd name="connsiteX5" fmla="*/ 0 w 4809109"/>
              <a:gd name="connsiteY5" fmla="*/ 0 h 6327648"/>
              <a:gd name="connsiteX0" fmla="*/ 0 w 4901184"/>
              <a:gd name="connsiteY0" fmla="*/ 0 h 6327648"/>
              <a:gd name="connsiteX1" fmla="*/ 2788333 w 4901184"/>
              <a:gd name="connsiteY1" fmla="*/ 0 h 6327648"/>
              <a:gd name="connsiteX2" fmla="*/ 4901184 w 4901184"/>
              <a:gd name="connsiteY2" fmla="*/ 3659124 h 6327648"/>
              <a:gd name="connsiteX3" fmla="*/ 3363008 w 4901184"/>
              <a:gd name="connsiteY3" fmla="*/ 6327648 h 6327648"/>
              <a:gd name="connsiteX4" fmla="*/ 0 w 4901184"/>
              <a:gd name="connsiteY4" fmla="*/ 6327648 h 6327648"/>
              <a:gd name="connsiteX5" fmla="*/ 0 w 4901184"/>
              <a:gd name="connsiteY5" fmla="*/ 0 h 63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1184" h="6327648">
                <a:moveTo>
                  <a:pt x="0" y="0"/>
                </a:moveTo>
                <a:lnTo>
                  <a:pt x="2788333" y="0"/>
                </a:lnTo>
                <a:lnTo>
                  <a:pt x="4901184" y="3659124"/>
                </a:lnTo>
                <a:lnTo>
                  <a:pt x="3363008" y="6327648"/>
                </a:lnTo>
                <a:lnTo>
                  <a:pt x="0" y="63276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31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680F4309-96B3-034B-9228-77D60DE549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9"/>
          <a:stretch/>
        </p:blipFill>
        <p:spPr>
          <a:xfrm>
            <a:off x="-1" y="1"/>
            <a:ext cx="12192001" cy="6714555"/>
          </a:xfrm>
          <a:prstGeom prst="rect">
            <a:avLst/>
          </a:prstGeom>
        </p:spPr>
      </p:pic>
      <p:pic>
        <p:nvPicPr>
          <p:cNvPr id="10" name="Logo">
            <a:extLst>
              <a:ext uri="{FF2B5EF4-FFF2-40B4-BE49-F238E27FC236}">
                <a16:creationId xmlns:a16="http://schemas.microsoft.com/office/drawing/2014/main" id="{6E052584-8EE6-9E40-A6E7-E71099A28B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4478" y="5827830"/>
            <a:ext cx="1012961" cy="8846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062" y="1676400"/>
            <a:ext cx="4847582" cy="16002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62" y="3429000"/>
            <a:ext cx="4847582" cy="9715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062" y="4441513"/>
            <a:ext cx="3292697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95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 w/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680F4309-96B3-034B-9228-77D60DE549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9"/>
          <a:stretch/>
        </p:blipFill>
        <p:spPr>
          <a:xfrm>
            <a:off x="-1" y="1"/>
            <a:ext cx="12192001" cy="6714555"/>
          </a:xfrm>
          <a:prstGeom prst="rect">
            <a:avLst/>
          </a:prstGeom>
        </p:spPr>
      </p:pic>
      <p:pic>
        <p:nvPicPr>
          <p:cNvPr id="10" name="Logo">
            <a:extLst>
              <a:ext uri="{FF2B5EF4-FFF2-40B4-BE49-F238E27FC236}">
                <a16:creationId xmlns:a16="http://schemas.microsoft.com/office/drawing/2014/main" id="{6E052584-8EE6-9E40-A6E7-E71099A28B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4478" y="5827830"/>
            <a:ext cx="1012961" cy="8846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062" y="1676400"/>
            <a:ext cx="4847582" cy="16002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62" y="3429000"/>
            <a:ext cx="4847582" cy="97155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062" y="4441513"/>
            <a:ext cx="3292697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AE4B82FA-C780-8B40-FCCF-473D62CB9F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28628" y="2137144"/>
            <a:ext cx="3679972" cy="3184902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</a:t>
            </a:r>
            <a:br>
              <a:rPr lang="en-US"/>
            </a:br>
            <a:r>
              <a:rPr lang="en-US"/>
              <a:t>picture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80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65182" y="1333500"/>
            <a:ext cx="11661637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7169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2">
          <p15:clr>
            <a:srgbClr val="FBAE40"/>
          </p15:clr>
        </p15:guide>
        <p15:guide id="2" pos="167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768">
          <p15:clr>
            <a:srgbClr val="FBAE40"/>
          </p15:clr>
        </p15:guide>
        <p15:guide id="5" pos="751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65182" y="1333500"/>
            <a:ext cx="5678379" cy="4648200"/>
          </a:xfrm>
        </p:spPr>
        <p:txBody>
          <a:bodyPr/>
          <a:lstStyle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6248440" y="1333500"/>
            <a:ext cx="5678379" cy="4648200"/>
          </a:xfrm>
        </p:spPr>
        <p:txBody>
          <a:bodyPr/>
          <a:lstStyle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1476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2">
          <p15:clr>
            <a:srgbClr val="FBAE40"/>
          </p15:clr>
        </p15:guide>
        <p15:guide id="2" pos="3743">
          <p15:clr>
            <a:srgbClr val="FBAE40"/>
          </p15:clr>
        </p15:guide>
        <p15:guide id="3" pos="3935">
          <p15:clr>
            <a:srgbClr val="FBAE40"/>
          </p15:clr>
        </p15:guide>
        <p15:guide id="4" orient="horz" pos="840">
          <p15:clr>
            <a:srgbClr val="FBAE40"/>
          </p15:clr>
        </p15:guide>
        <p15:guide id="5" orient="horz" pos="3768">
          <p15:clr>
            <a:srgbClr val="FBAE40"/>
          </p15:clr>
        </p15:guide>
        <p15:guide id="6" pos="167">
          <p15:clr>
            <a:srgbClr val="FBAE40"/>
          </p15:clr>
        </p15:guide>
        <p15:guide id="7" pos="751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raphic 51">
            <a:extLst>
              <a:ext uri="{FF2B5EF4-FFF2-40B4-BE49-F238E27FC236}">
                <a16:creationId xmlns:a16="http://schemas.microsoft.com/office/drawing/2014/main" id="{C269222F-D76F-157F-DD86-08FB2409E9C8}"/>
              </a:ext>
            </a:extLst>
          </p:cNvPr>
          <p:cNvSpPr/>
          <p:nvPr/>
        </p:nvSpPr>
        <p:spPr>
          <a:xfrm>
            <a:off x="5825031" y="1158240"/>
            <a:ext cx="6366969" cy="5699760"/>
          </a:xfrm>
          <a:custGeom>
            <a:avLst/>
            <a:gdLst>
              <a:gd name="connsiteX0" fmla="*/ 7658590 w 7658589"/>
              <a:gd name="connsiteY0" fmla="*/ 6857815 h 6857814"/>
              <a:gd name="connsiteX1" fmla="*/ 7658590 w 7658589"/>
              <a:gd name="connsiteY1" fmla="*/ 0 h 6857814"/>
              <a:gd name="connsiteX2" fmla="*/ 2572556 w 7658589"/>
              <a:gd name="connsiteY2" fmla="*/ 0 h 6857814"/>
              <a:gd name="connsiteX3" fmla="*/ 0 w 7658589"/>
              <a:gd name="connsiteY3" fmla="*/ 4457515 h 6857814"/>
              <a:gd name="connsiteX4" fmla="*/ 1385272 w 7658589"/>
              <a:gd name="connsiteY4" fmla="*/ 6857815 h 6857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8589" h="6857814">
                <a:moveTo>
                  <a:pt x="7658590" y="6857815"/>
                </a:moveTo>
                <a:lnTo>
                  <a:pt x="7658590" y="0"/>
                </a:lnTo>
                <a:lnTo>
                  <a:pt x="2572556" y="0"/>
                </a:lnTo>
                <a:lnTo>
                  <a:pt x="0" y="4457515"/>
                </a:lnTo>
                <a:lnTo>
                  <a:pt x="1385272" y="6857815"/>
                </a:lnTo>
                <a:close/>
              </a:path>
            </a:pathLst>
          </a:custGeom>
          <a:solidFill>
            <a:schemeClr val="accent1"/>
          </a:solidFill>
          <a:ln w="46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A43907E2-E409-3445-A1F8-0BB547B84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10798" y="6078656"/>
            <a:ext cx="787475" cy="687705"/>
          </a:xfrm>
          <a:prstGeom prst="rect">
            <a:avLst/>
          </a:prstGeom>
        </p:spPr>
      </p:pic>
      <p:pic>
        <p:nvPicPr>
          <p:cNvPr id="50" name="Background">
            <a:extLst>
              <a:ext uri="{FF2B5EF4-FFF2-40B4-BE49-F238E27FC236}">
                <a16:creationId xmlns:a16="http://schemas.microsoft.com/office/drawing/2014/main" id="{E2365931-4F36-0C98-BEB0-056D07D53A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621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457EAB-2153-8C4E-8650-7B4A6C2988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062" y="6505932"/>
            <a:ext cx="498629" cy="172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9C4343-C115-504A-8D4F-0B17318D4A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2C7AE2-1208-F448-A573-E5DDEBF4CF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0253" y="6505932"/>
            <a:ext cx="3841480" cy="172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BFC9DE34-5ACA-C208-DD9A-99D59AA9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061" y="1676400"/>
            <a:ext cx="4069066" cy="16002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25067B7C-1CA9-A6B8-20B5-EC475AC72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0062" y="3429000"/>
            <a:ext cx="3764077" cy="969263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50529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20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Background">
            <a:extLst>
              <a:ext uri="{FF2B5EF4-FFF2-40B4-BE49-F238E27FC236}">
                <a16:creationId xmlns:a16="http://schemas.microsoft.com/office/drawing/2014/main" id="{E2365931-4F36-0C98-BEB0-056D07D53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0"/>
            <a:ext cx="12191996" cy="6856212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A43907E2-E409-3445-A1F8-0BB547B842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210798" y="6078656"/>
            <a:ext cx="787475" cy="68770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457EAB-2153-8C4E-8650-7B4A6C2988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062" y="6505932"/>
            <a:ext cx="498629" cy="172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9C4343-C115-504A-8D4F-0B17318D4A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2C7AE2-1208-F448-A573-E5DDEBF4CF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0253" y="6505932"/>
            <a:ext cx="3841480" cy="172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BFC9DE34-5ACA-C208-DD9A-99D59AA93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060" y="1676400"/>
            <a:ext cx="4710387" cy="16002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25067B7C-1CA9-A6B8-20B5-EC475AC72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0062" y="3429000"/>
            <a:ext cx="4263613" cy="969263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38834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8204C90E-551A-8F81-FDF5-F158A9E0D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127" cy="6860165"/>
          </a:xfrm>
          <a:prstGeom prst="rect">
            <a:avLst/>
          </a:prstGeom>
        </p:spPr>
      </p:pic>
      <p:pic>
        <p:nvPicPr>
          <p:cNvPr id="15" name="Logo">
            <a:extLst>
              <a:ext uri="{FF2B5EF4-FFF2-40B4-BE49-F238E27FC236}">
                <a16:creationId xmlns:a16="http://schemas.microsoft.com/office/drawing/2014/main" id="{C4EBF62B-2446-0245-A0FE-7849D8134D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210798" y="6078656"/>
            <a:ext cx="787475" cy="68770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4B129D6-16A8-EDFF-A754-3B088F222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062" y="1676400"/>
            <a:ext cx="5621657" cy="1600202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66AF0E6-CF7C-2CD5-D181-03B24CFA1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0062" y="3429000"/>
            <a:ext cx="5229577" cy="9692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AD63A15-7CD6-9C69-BBBC-74E57D2C6D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9141" y="759697"/>
            <a:ext cx="2476661" cy="2143473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br>
              <a:rPr lang="en-US"/>
            </a:br>
            <a:r>
              <a:rPr lang="en-US"/>
              <a:t>or leave blank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997979C-8F9F-0206-45CB-1CAC7D3D2B3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94500" y="3632463"/>
            <a:ext cx="2476661" cy="2143473"/>
          </a:xfrm>
          <a:custGeom>
            <a:avLst/>
            <a:gdLst>
              <a:gd name="connsiteX0" fmla="*/ 1242121 w 4968506"/>
              <a:gd name="connsiteY0" fmla="*/ 0 h 4301209"/>
              <a:gd name="connsiteX1" fmla="*/ 3726385 w 4968506"/>
              <a:gd name="connsiteY1" fmla="*/ 0 h 4301209"/>
              <a:gd name="connsiteX2" fmla="*/ 4968506 w 4968506"/>
              <a:gd name="connsiteY2" fmla="*/ 2150605 h 4301209"/>
              <a:gd name="connsiteX3" fmla="*/ 3726385 w 4968506"/>
              <a:gd name="connsiteY3" fmla="*/ 4301209 h 4301209"/>
              <a:gd name="connsiteX4" fmla="*/ 1242121 w 4968506"/>
              <a:gd name="connsiteY4" fmla="*/ 4301209 h 4301209"/>
              <a:gd name="connsiteX5" fmla="*/ 0 w 4968506"/>
              <a:gd name="connsiteY5" fmla="*/ 2150605 h 4301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506" h="4301209">
                <a:moveTo>
                  <a:pt x="1242121" y="0"/>
                </a:moveTo>
                <a:lnTo>
                  <a:pt x="3726385" y="0"/>
                </a:lnTo>
                <a:lnTo>
                  <a:pt x="4968506" y="2150605"/>
                </a:lnTo>
                <a:lnTo>
                  <a:pt x="3726385" y="4301209"/>
                </a:lnTo>
                <a:lnTo>
                  <a:pt x="1242121" y="4301209"/>
                </a:lnTo>
                <a:lnTo>
                  <a:pt x="0" y="2150605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br>
              <a:rPr lang="en-US"/>
            </a:br>
            <a:r>
              <a:rPr lang="en-US"/>
              <a:t>or leave blank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13" name="Catalyst">
            <a:extLst>
              <a:ext uri="{FF2B5EF4-FFF2-40B4-BE49-F238E27FC236}">
                <a16:creationId xmlns:a16="http://schemas.microsoft.com/office/drawing/2014/main" id="{EAA57297-7E29-E34F-A424-C35C24320D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8000000">
            <a:off x="7218115" y="566599"/>
            <a:ext cx="2862072" cy="2528822"/>
          </a:xfrm>
          <a:prstGeom prst="rect">
            <a:avLst/>
          </a:prstGeom>
        </p:spPr>
      </p:pic>
      <p:pic>
        <p:nvPicPr>
          <p:cNvPr id="21" name="Catalyst">
            <a:extLst>
              <a:ext uri="{FF2B5EF4-FFF2-40B4-BE49-F238E27FC236}">
                <a16:creationId xmlns:a16="http://schemas.microsoft.com/office/drawing/2014/main" id="{08A44818-B823-174B-9682-99B0587713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8000000">
            <a:off x="6000399" y="3437815"/>
            <a:ext cx="2862072" cy="2528822"/>
          </a:xfrm>
          <a:prstGeom prst="rect">
            <a:avLst/>
          </a:prstGeom>
        </p:spPr>
      </p:pic>
      <p:pic>
        <p:nvPicPr>
          <p:cNvPr id="22" name="Catalyst">
            <a:extLst>
              <a:ext uri="{FF2B5EF4-FFF2-40B4-BE49-F238E27FC236}">
                <a16:creationId xmlns:a16="http://schemas.microsoft.com/office/drawing/2014/main" id="{25F31E3F-81F1-BF4A-AAF4-17DF7525CD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3600000">
            <a:off x="8698380" y="3309977"/>
            <a:ext cx="1314666" cy="1161590"/>
          </a:xfrm>
          <a:prstGeom prst="rect">
            <a:avLst/>
          </a:prstGeom>
        </p:spPr>
      </p:pic>
      <p:pic>
        <p:nvPicPr>
          <p:cNvPr id="23" name="Catalyst">
            <a:extLst>
              <a:ext uri="{FF2B5EF4-FFF2-40B4-BE49-F238E27FC236}">
                <a16:creationId xmlns:a16="http://schemas.microsoft.com/office/drawing/2014/main" id="{AC7F958D-74D1-2240-A8E9-F256BC00E5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8000000">
            <a:off x="9942205" y="4407331"/>
            <a:ext cx="672861" cy="594515"/>
          </a:xfrm>
          <a:prstGeom prst="rect">
            <a:avLst/>
          </a:prstGeom>
        </p:spPr>
      </p:pic>
      <p:pic>
        <p:nvPicPr>
          <p:cNvPr id="3" name="Catalyst Crop">
            <a:extLst>
              <a:ext uri="{FF2B5EF4-FFF2-40B4-BE49-F238E27FC236}">
                <a16:creationId xmlns:a16="http://schemas.microsoft.com/office/drawing/2014/main" id="{1423B1C9-32D2-E14B-9948-26E20479049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471545" y="0"/>
            <a:ext cx="1720455" cy="32766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FA860D-4A11-4F4E-A6A1-B514A0E980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70253" y="6505932"/>
            <a:ext cx="5213438" cy="17222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6B9E1-7A86-FA4F-8296-2037C6FAFF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70062" y="6505932"/>
            <a:ext cx="498629" cy="172221"/>
          </a:xfrm>
        </p:spPr>
        <p:txBody>
          <a:bodyPr/>
          <a:lstStyle/>
          <a:p>
            <a:fld id="{FD9C4343-C115-504A-8D4F-0B17318D4A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7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eps/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8204C90E-551A-8F81-FDF5-F158A9E0D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27" y="0"/>
            <a:ext cx="12192127" cy="6858000"/>
          </a:xfrm>
          <a:prstGeom prst="rect">
            <a:avLst/>
          </a:prstGeom>
        </p:spPr>
      </p:pic>
      <p:pic>
        <p:nvPicPr>
          <p:cNvPr id="15" name="Logo">
            <a:extLst>
              <a:ext uri="{FF2B5EF4-FFF2-40B4-BE49-F238E27FC236}">
                <a16:creationId xmlns:a16="http://schemas.microsoft.com/office/drawing/2014/main" id="{C4EBF62B-2446-0245-A0FE-7849D8134D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210798" y="6078656"/>
            <a:ext cx="787475" cy="687705"/>
          </a:xfrm>
          <a:prstGeom prst="rect">
            <a:avLst/>
          </a:prstGeom>
        </p:spPr>
      </p:pic>
      <p:pic>
        <p:nvPicPr>
          <p:cNvPr id="22" name="Catalyst">
            <a:extLst>
              <a:ext uri="{FF2B5EF4-FFF2-40B4-BE49-F238E27FC236}">
                <a16:creationId xmlns:a16="http://schemas.microsoft.com/office/drawing/2014/main" id="{25F31E3F-81F1-BF4A-AAF4-17DF7525CD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3600000">
            <a:off x="1301244" y="5024478"/>
            <a:ext cx="1314666" cy="1161590"/>
          </a:xfrm>
          <a:prstGeom prst="rect">
            <a:avLst/>
          </a:prstGeom>
        </p:spPr>
      </p:pic>
      <p:pic>
        <p:nvPicPr>
          <p:cNvPr id="23" name="Catalyst">
            <a:extLst>
              <a:ext uri="{FF2B5EF4-FFF2-40B4-BE49-F238E27FC236}">
                <a16:creationId xmlns:a16="http://schemas.microsoft.com/office/drawing/2014/main" id="{AC7F958D-74D1-2240-A8E9-F256BC00E5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8000000">
            <a:off x="2739430" y="5778932"/>
            <a:ext cx="672861" cy="59451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FA860D-4A11-4F4E-A6A1-B514A0E980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70253" y="6505932"/>
            <a:ext cx="5213438" cy="17222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6B9E1-7A86-FA4F-8296-2037C6FAFF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70062" y="6505932"/>
            <a:ext cx="498629" cy="172221"/>
          </a:xfrm>
        </p:spPr>
        <p:txBody>
          <a:bodyPr/>
          <a:lstStyle/>
          <a:p>
            <a:fld id="{FD9C4343-C115-504A-8D4F-0B17318D4A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48E3BA-6CD5-534E-9245-58E2E674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82" y="304800"/>
            <a:ext cx="8401015" cy="1028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C578BF-2F1E-D34B-8AE2-331829F7F4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5182" y="1790700"/>
            <a:ext cx="2195132" cy="2857500"/>
          </a:xfrm>
          <a:solidFill>
            <a:srgbClr val="8F1A95"/>
          </a:solidFill>
        </p:spPr>
        <p:txBody>
          <a:bodyPr lIns="182880" tIns="155448" rIns="182880" bIns="155448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800">
                <a:solidFill>
                  <a:schemeClr val="bg1"/>
                </a:solidFill>
              </a:defRPr>
            </a:lvl2pPr>
            <a:lvl3pPr marL="164592" indent="-164592">
              <a:spcBef>
                <a:spcPts val="4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40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91F357E9-9304-8B45-845B-069A8715F8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27997" y="1790700"/>
            <a:ext cx="2195132" cy="2857500"/>
          </a:xfrm>
          <a:solidFill>
            <a:schemeClr val="accent3"/>
          </a:solidFill>
        </p:spPr>
        <p:txBody>
          <a:bodyPr lIns="182880" tIns="155448" rIns="182880" bIns="155448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800">
                <a:solidFill>
                  <a:schemeClr val="bg1"/>
                </a:solidFill>
              </a:defRPr>
            </a:lvl2pPr>
            <a:lvl3pPr marL="164592" indent="-164592">
              <a:spcBef>
                <a:spcPts val="4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40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C10B2182-7FFF-8D4E-8F71-4405B66E46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90813" y="1790700"/>
            <a:ext cx="2195132" cy="2857500"/>
          </a:xfrm>
          <a:solidFill>
            <a:schemeClr val="accent1"/>
          </a:solidFill>
        </p:spPr>
        <p:txBody>
          <a:bodyPr lIns="182880" tIns="155448" rIns="182880" bIns="155448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800">
                <a:solidFill>
                  <a:schemeClr val="bg1"/>
                </a:solidFill>
              </a:defRPr>
            </a:lvl2pPr>
            <a:lvl3pPr marL="164592" indent="-164592">
              <a:spcBef>
                <a:spcPts val="4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40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D069043C-8E0B-C548-9D1D-03671FB823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53628" y="1790700"/>
            <a:ext cx="2195132" cy="2857500"/>
          </a:xfrm>
          <a:solidFill>
            <a:schemeClr val="accent4"/>
          </a:solidFill>
        </p:spPr>
        <p:txBody>
          <a:bodyPr lIns="182880" tIns="155448" rIns="182880" bIns="155448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800">
                <a:solidFill>
                  <a:schemeClr val="bg1"/>
                </a:solidFill>
              </a:defRPr>
            </a:lvl2pPr>
            <a:lvl3pPr marL="164592" indent="-164592">
              <a:spcBef>
                <a:spcPts val="4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40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FACDAD61-DE8F-5340-A72C-FA8AB70C32A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731687" y="1790700"/>
            <a:ext cx="2195132" cy="2857500"/>
          </a:xfrm>
          <a:solidFill>
            <a:schemeClr val="accent6"/>
          </a:solidFill>
        </p:spPr>
        <p:txBody>
          <a:bodyPr lIns="182880" tIns="155448" rIns="182880" bIns="155448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800">
                <a:solidFill>
                  <a:schemeClr val="bg1"/>
                </a:solidFill>
              </a:defRPr>
            </a:lvl2pPr>
            <a:lvl3pPr marL="164592" indent="-164592">
              <a:spcBef>
                <a:spcPts val="4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40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7" name="Catalyst">
            <a:extLst>
              <a:ext uri="{FF2B5EF4-FFF2-40B4-BE49-F238E27FC236}">
                <a16:creationId xmlns:a16="http://schemas.microsoft.com/office/drawing/2014/main" id="{E241F033-B383-7742-8A96-6BD5EFC2A0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7926" t="1" r="-1" b="41322"/>
          <a:stretch/>
        </p:blipFill>
        <p:spPr>
          <a:xfrm rot="10800000">
            <a:off x="10848074" y="-2"/>
            <a:ext cx="1343926" cy="13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13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67">
          <p15:clr>
            <a:srgbClr val="FBAE40"/>
          </p15:clr>
        </p15:guide>
        <p15:guide id="3" orient="horz" pos="1128">
          <p15:clr>
            <a:srgbClr val="FBAE40"/>
          </p15:clr>
        </p15:guide>
        <p15:guide id="4" pos="1655">
          <p15:clr>
            <a:srgbClr val="FBAE40"/>
          </p15:clr>
        </p15:guide>
        <p15:guide id="5" pos="7511">
          <p15:clr>
            <a:srgbClr val="FBAE40"/>
          </p15:clr>
        </p15:guide>
        <p15:guide id="6" pos="6119">
          <p15:clr>
            <a:srgbClr val="FBAE40"/>
          </p15:clr>
        </p15:guide>
        <p15:guide id="7" pos="3143">
          <p15:clr>
            <a:srgbClr val="FBAE40"/>
          </p15:clr>
        </p15:guide>
        <p15:guide id="8" pos="4631">
          <p15:clr>
            <a:srgbClr val="FBAE40"/>
          </p15:clr>
        </p15:guide>
        <p15:guide id="9" orient="horz" pos="292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182" y="1333500"/>
            <a:ext cx="5678379" cy="8382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2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265182" y="2171700"/>
            <a:ext cx="5678379" cy="3810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4"/>
          </p:nvPr>
        </p:nvSpPr>
        <p:spPr>
          <a:xfrm>
            <a:off x="6248440" y="1333500"/>
            <a:ext cx="5678379" cy="8382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2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6248440" y="2171700"/>
            <a:ext cx="5678379" cy="3810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4200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3">
          <p15:clr>
            <a:srgbClr val="FBAE40"/>
          </p15:clr>
        </p15:guide>
        <p15:guide id="2" pos="3935">
          <p15:clr>
            <a:srgbClr val="FBAE40"/>
          </p15:clr>
        </p15:guide>
        <p15:guide id="3" pos="167">
          <p15:clr>
            <a:srgbClr val="FBAE40"/>
          </p15:clr>
        </p15:guide>
        <p15:guide id="4" orient="horz" pos="3768">
          <p15:clr>
            <a:srgbClr val="FBAE40"/>
          </p15:clr>
        </p15:guide>
        <p15:guide id="5" orient="horz" pos="1368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192">
          <p15:clr>
            <a:srgbClr val="FBAE40"/>
          </p15:clr>
        </p15:guide>
        <p15:guide id="8" pos="751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_Right Two 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265182" y="1333500"/>
            <a:ext cx="5678379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5"/>
          </p:nvPr>
        </p:nvSpPr>
        <p:spPr>
          <a:xfrm>
            <a:off x="6248440" y="1333499"/>
            <a:ext cx="5678379" cy="22494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6"/>
          </p:nvPr>
        </p:nvSpPr>
        <p:spPr>
          <a:xfrm>
            <a:off x="6248440" y="3733800"/>
            <a:ext cx="5678379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0894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8">
          <p15:clr>
            <a:srgbClr val="FBAE40"/>
          </p15:clr>
        </p15:guide>
        <p15:guide id="2" pos="3743">
          <p15:clr>
            <a:srgbClr val="FBAE40"/>
          </p15:clr>
        </p15:guide>
        <p15:guide id="3" pos="3935">
          <p15:clr>
            <a:srgbClr val="FBAE40"/>
          </p15:clr>
        </p15:guide>
        <p15:guide id="4" orient="horz" pos="2352">
          <p15:clr>
            <a:srgbClr val="FBAE40"/>
          </p15:clr>
        </p15:guide>
        <p15:guide id="5" orient="horz" pos="840">
          <p15:clr>
            <a:srgbClr val="FBAE40"/>
          </p15:clr>
        </p15:guide>
        <p15:guide id="6" orient="horz" pos="192">
          <p15:clr>
            <a:srgbClr val="FBAE40"/>
          </p15:clr>
        </p15:guide>
        <p15:guide id="7" pos="167">
          <p15:clr>
            <a:srgbClr val="FBAE40"/>
          </p15:clr>
        </p15:guide>
        <p15:guide id="8" pos="751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_Left Two 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248440" y="1333501"/>
            <a:ext cx="5678379" cy="46482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265182" y="1333501"/>
            <a:ext cx="5678379" cy="22494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6"/>
          </p:nvPr>
        </p:nvSpPr>
        <p:spPr>
          <a:xfrm>
            <a:off x="265182" y="3733800"/>
            <a:ext cx="5678379" cy="22479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1532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3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3935">
          <p15:clr>
            <a:srgbClr val="FBAE40"/>
          </p15:clr>
        </p15:guide>
        <p15:guide id="4" orient="horz" pos="2352">
          <p15:clr>
            <a:srgbClr val="FBAE40"/>
          </p15:clr>
        </p15:guide>
        <p15:guide id="5" orient="horz" pos="840">
          <p15:clr>
            <a:srgbClr val="FBAE40"/>
          </p15:clr>
        </p15:guide>
        <p15:guide id="6" orient="horz" pos="192">
          <p15:clr>
            <a:srgbClr val="FBAE40"/>
          </p15:clr>
        </p15:guide>
        <p15:guide id="7" pos="167">
          <p15:clr>
            <a:srgbClr val="FBAE40"/>
          </p15:clr>
        </p15:guide>
        <p15:guide id="8" pos="751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265182" y="1333500"/>
            <a:ext cx="5678379" cy="22494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6"/>
          </p:nvPr>
        </p:nvSpPr>
        <p:spPr>
          <a:xfrm>
            <a:off x="265182" y="3733800"/>
            <a:ext cx="5678379" cy="22479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7"/>
          </p:nvPr>
        </p:nvSpPr>
        <p:spPr>
          <a:xfrm>
            <a:off x="6248440" y="1333500"/>
            <a:ext cx="5678379" cy="22494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8"/>
          </p:nvPr>
        </p:nvSpPr>
        <p:spPr>
          <a:xfrm>
            <a:off x="6248440" y="3733800"/>
            <a:ext cx="5678379" cy="22479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3191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3">
          <p15:clr>
            <a:srgbClr val="FBAE40"/>
          </p15:clr>
        </p15:guide>
        <p15:guide id="2" orient="horz" pos="2352">
          <p15:clr>
            <a:srgbClr val="FBAE40"/>
          </p15:clr>
        </p15:guide>
        <p15:guide id="3" pos="3935">
          <p15:clr>
            <a:srgbClr val="FBAE40"/>
          </p15:clr>
        </p15:guide>
        <p15:guide id="4" orient="horz" pos="192">
          <p15:clr>
            <a:srgbClr val="FBAE40"/>
          </p15:clr>
        </p15:guide>
        <p15:guide id="5" orient="horz" pos="840">
          <p15:clr>
            <a:srgbClr val="FBAE40"/>
          </p15:clr>
        </p15:guide>
        <p15:guide id="6" orient="horz" pos="3768">
          <p15:clr>
            <a:srgbClr val="FBAE40"/>
          </p15:clr>
        </p15:guide>
        <p15:guide id="7" pos="167">
          <p15:clr>
            <a:srgbClr val="FBAE40"/>
          </p15:clr>
        </p15:guide>
        <p15:guide id="8" pos="75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83" y="304800"/>
            <a:ext cx="4001542" cy="1028700"/>
          </a:xfrm>
        </p:spPr>
        <p:txBody>
          <a:bodyPr anchor="t" anchorCtr="0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183" y="1333501"/>
            <a:ext cx="4001542" cy="464820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4571604" y="304800"/>
            <a:ext cx="7355215" cy="56769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0678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7">
          <p15:clr>
            <a:srgbClr val="FBAE40"/>
          </p15:clr>
        </p15:guide>
        <p15:guide id="2" orient="horz" pos="192">
          <p15:clr>
            <a:srgbClr val="FBAE40"/>
          </p15:clr>
        </p15:guide>
        <p15:guide id="4" orient="horz" pos="840">
          <p15:clr>
            <a:srgbClr val="FBAE40"/>
          </p15:clr>
        </p15:guide>
        <p15:guide id="5" orient="horz" pos="3768">
          <p15:clr>
            <a:srgbClr val="FBAE40"/>
          </p15:clr>
        </p15:guide>
        <p15:guide id="6" pos="2879">
          <p15:clr>
            <a:srgbClr val="FBAE40"/>
          </p15:clr>
        </p15:guide>
        <p15:guide id="7" pos="7511">
          <p15:clr>
            <a:srgbClr val="FBAE40"/>
          </p15:clr>
        </p15:guide>
        <p15:guide id="8" pos="1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182" y="5219700"/>
            <a:ext cx="11661638" cy="76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738DD-81D1-1545-8104-6CA088F68C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182" y="1333500"/>
            <a:ext cx="11661637" cy="3683000"/>
          </a:xfrm>
          <a:solidFill>
            <a:schemeClr val="bg2">
              <a:lumMod val="85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68218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2">
          <p15:clr>
            <a:srgbClr val="FBAE40"/>
          </p15:clr>
        </p15:guide>
        <p15:guide id="2" pos="167">
          <p15:clr>
            <a:srgbClr val="FBAE40"/>
          </p15:clr>
        </p15:guide>
        <p15:guide id="3" orient="horz" pos="840">
          <p15:clr>
            <a:srgbClr val="FBAE40"/>
          </p15:clr>
        </p15:guide>
        <p15:guide id="4" orient="horz" pos="3768">
          <p15:clr>
            <a:srgbClr val="FBAE40"/>
          </p15:clr>
        </p15:guide>
        <p15:guide id="5" orient="horz" pos="3288">
          <p15:clr>
            <a:srgbClr val="FBAE40"/>
          </p15:clr>
        </p15:guide>
        <p15:guide id="6" pos="751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4067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7">
          <p15:clr>
            <a:srgbClr val="FBAE40"/>
          </p15:clr>
        </p15:guide>
        <p15:guide id="2" orient="horz" pos="840">
          <p15:clr>
            <a:srgbClr val="FBAE40"/>
          </p15:clr>
        </p15:guide>
        <p15:guide id="3" orient="horz" pos="3768">
          <p15:clr>
            <a:srgbClr val="FBAE40"/>
          </p15:clr>
        </p15:guide>
        <p15:guide id="4" orient="horz" pos="192">
          <p15:clr>
            <a:srgbClr val="FBAE40"/>
          </p15:clr>
        </p15:guide>
        <p15:guide id="5" pos="751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3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7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751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1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1655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 userDrawn="1">
          <p15:clr>
            <a:srgbClr val="5ACBF0"/>
          </p15:clr>
        </p15:guide>
        <p15:guide id="3" orient="horz" pos="288" userDrawn="1">
          <p15:clr>
            <a:srgbClr val="5ACBF0"/>
          </p15:clr>
        </p15:guide>
        <p15:guide id="5" orient="horz" pos="904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12192000" cy="6858000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388584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288401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288401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245" y="365760"/>
            <a:ext cx="11669513" cy="1096062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245" y="1461822"/>
            <a:ext cx="11669513" cy="847633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65245" y="2309461"/>
            <a:ext cx="3303862" cy="3651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000">
                <a:solidFill>
                  <a:srgbClr val="FFFFFF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ar">
            <a:extLst>
              <a:ext uri="{FF2B5EF4-FFF2-40B4-BE49-F238E27FC236}">
                <a16:creationId xmlns:a16="http://schemas.microsoft.com/office/drawing/2014/main" id="{249890E8-44B5-FC4E-B11B-38CBCDAC5189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" y="1"/>
            <a:ext cx="12192000" cy="18479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FBE06973-1178-4C46-BDA7-05479C2734CD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11210798" y="6078656"/>
            <a:ext cx="787476" cy="68770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5182" y="6505932"/>
            <a:ext cx="498629" cy="17222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>
              <a:defRPr sz="100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fld id="{FD9C4343-C115-504A-8D4F-0B17318D4A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5374" y="6505932"/>
            <a:ext cx="6400904" cy="17222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>
              <a:defRPr sz="100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5182" y="304800"/>
            <a:ext cx="11661637" cy="10287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182" y="1333501"/>
            <a:ext cx="11661637" cy="46481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690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79" r:id="rId22"/>
    <p:sldLayoutId id="2147483780" r:id="rId2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Arial"/>
        </a:defRPr>
      </a:lvl1pPr>
    </p:titleStyle>
    <p:bodyStyle>
      <a:lvl1pPr marL="233363" indent="-233363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457200" indent="-219456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/>
        <a:buChar char="•"/>
        <a:defRPr sz="2200" b="0" i="0" kern="1200">
          <a:solidFill>
            <a:schemeClr val="tx1"/>
          </a:solidFill>
          <a:latin typeface="Arial"/>
          <a:ea typeface="+mn-ea"/>
          <a:cs typeface="Arial"/>
        </a:defRPr>
      </a:lvl2pPr>
      <a:lvl3pPr marL="658368" indent="-201168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Arial"/>
        </a:defRPr>
      </a:lvl3pPr>
      <a:lvl4pPr marL="841248" indent="-180975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Arial"/>
        </a:defRPr>
      </a:lvl4pPr>
      <a:lvl5pPr marL="1005840" indent="-166688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Arial"/>
        </a:defRPr>
      </a:lvl5pPr>
      <a:lvl6pPr marL="1143000" indent="-137160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61872" indent="-115888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62456" indent="-100584" algn="l" defTabSz="457200" rtl="0" eaLnBrk="1" latinLnBrk="0" hangingPunct="1">
        <a:spcBef>
          <a:spcPts val="400"/>
        </a:spcBef>
        <a:buClr>
          <a:schemeClr val="accent1"/>
        </a:buClr>
        <a:buFont typeface="Arial"/>
        <a:buChar char="•"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53896" indent="-91440" algn="l" defTabSz="457200" rtl="0" eaLnBrk="1" latinLnBrk="0" hangingPunct="1">
        <a:spcBef>
          <a:spcPts val="400"/>
        </a:spcBef>
        <a:buClr>
          <a:schemeClr val="accent1"/>
        </a:buClr>
        <a:buFont typeface="Arial"/>
        <a:buChar char="•"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F316-EAFE-DA82-3A5D-C3A682E2C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Use Case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A0000-92A9-E47B-EBC3-0359C0872F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BB5D101C-F443-4B2C-AF65-8948FBB693BC}"/>
              </a:ext>
            </a:extLst>
          </p:cNvPr>
          <p:cNvSpPr txBox="1"/>
          <p:nvPr/>
        </p:nvSpPr>
        <p:spPr>
          <a:xfrm>
            <a:off x="571500" y="3302000"/>
            <a:ext cx="56261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1600">
                <a:solidFill>
                  <a:srgbClr val="666666"/>
                </a:solidFill>
              </a:rPr>
              <a:t>Recoverable Assets &amp; Inventory Risk Management</a:t>
            </a:r>
            <a:endParaRPr lang="en-MY" sz="1600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0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BE45CC-84F5-D623-08A6-24D66F461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4056-C46A-DC91-F905-B0D78C1D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PPG Industries is a </a:t>
            </a:r>
            <a:r>
              <a:rPr lang="en-US" sz="1600" b="1" dirty="0">
                <a:solidFill>
                  <a:srgbClr val="333333"/>
                </a:solidFill>
              </a:rPr>
              <a:t>global manufacturer</a:t>
            </a:r>
            <a:r>
              <a:rPr lang="en-US" sz="1600" dirty="0">
                <a:solidFill>
                  <a:srgbClr val="333333"/>
                </a:solidFill>
              </a:rPr>
              <a:t> of paints, coatings, and specialty materials, with manufacturing and technology operations in Malaysia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One of the biggest challenges: </a:t>
            </a:r>
            <a:r>
              <a:rPr lang="en-US" sz="1600" b="1" dirty="0">
                <a:solidFill>
                  <a:srgbClr val="333333"/>
                </a:solidFill>
              </a:rPr>
              <a:t>inventory obsolescence</a:t>
            </a:r>
            <a:r>
              <a:rPr lang="en-US" sz="1600" dirty="0">
                <a:solidFill>
                  <a:srgbClr val="333333"/>
                </a:solidFill>
              </a:rPr>
              <a:t> — when stock on hand exceeds what the business will realistically use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This creates </a:t>
            </a:r>
            <a:r>
              <a:rPr lang="en-US" sz="1600" b="1" dirty="0">
                <a:solidFill>
                  <a:srgbClr val="333333"/>
                </a:solidFill>
              </a:rPr>
              <a:t>financial risk</a:t>
            </a:r>
            <a:r>
              <a:rPr lang="en-US" sz="1600" dirty="0">
                <a:solidFill>
                  <a:srgbClr val="333333"/>
                </a:solidFill>
              </a:rPr>
              <a:t> and </a:t>
            </a:r>
            <a:r>
              <a:rPr lang="en-US" sz="1600" b="1" dirty="0">
                <a:solidFill>
                  <a:srgbClr val="333333"/>
                </a:solidFill>
              </a:rPr>
              <a:t>storage costs</a:t>
            </a:r>
            <a:r>
              <a:rPr lang="en-US" sz="1600" dirty="0">
                <a:solidFill>
                  <a:srgbClr val="333333"/>
                </a:solidFill>
              </a:rPr>
              <a:t> — tied directly to PPG’s financial reporting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PPG uses two internal categories to classify this risk: </a:t>
            </a:r>
            <a:r>
              <a:rPr lang="en-US" sz="1600" b="1" dirty="0">
                <a:solidFill>
                  <a:srgbClr val="0078A9"/>
                </a:solidFill>
              </a:rPr>
              <a:t>Recoverable Assets (RA)</a:t>
            </a:r>
            <a:r>
              <a:rPr lang="en-US" sz="1600" dirty="0">
                <a:solidFill>
                  <a:srgbClr val="333333"/>
                </a:solidFill>
              </a:rPr>
              <a:t> and </a:t>
            </a:r>
            <a:r>
              <a:rPr lang="en-US" sz="1600" b="1" dirty="0">
                <a:solidFill>
                  <a:srgbClr val="0078A9"/>
                </a:solidFill>
              </a:rPr>
              <a:t>Magna Carta (MC)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This classification process is operationally significant — making it an excellent foundation for a </a:t>
            </a:r>
            <a:r>
              <a:rPr lang="en-US" sz="1600" b="1" dirty="0">
                <a:solidFill>
                  <a:srgbClr val="333333"/>
                </a:solidFill>
              </a:rPr>
              <a:t>data engineering case study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76A0AA-8EC4-91F1-D5C2-89FBF5D4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8A9"/>
                </a:solidFill>
              </a:rPr>
              <a:t>About PPG &amp; the Business Context</a:t>
            </a:r>
          </a:p>
        </p:txBody>
      </p:sp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5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5F3847-4E34-6EEE-AC16-D66504F7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7A449C-44A4-9F19-E15A-C39E8084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8A9"/>
                </a:solidFill>
              </a:rPr>
              <a:t>RA &amp; Magna Carta Classification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FF21A1-D618-4217-9247-A0EFCB00AC7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05000"/>
          <a:ext cx="11277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491736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1136285461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MY" sz="16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anchor="ctr"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anchor="ctr">
                    <a:solidFill>
                      <a:srgbClr val="0078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104625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Recoverable Assets (RA)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Raw materials where stock on hand exceeds expected 12-month consumption. At risk of non-recovery; requires formal quarterly review.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7175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Magna Carta – Dead Stock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A subset of RA with no consumption for 9+ months and no lot expiry. Inventory value must be fully written down (100% provision).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542105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Magna Carta – Expired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A subset of RA where the lot expiry date has passed. Also requires 100% financial provision.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594592"/>
                  </a:ext>
                </a:extLst>
              </a:tr>
            </a:tbl>
          </a:graphicData>
        </a:graphic>
      </p:graphicFrame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Analogy"/>
          <p:cNvSpPr txBox="1"/>
          <p:nvPr/>
        </p:nvSpPr>
        <p:spPr>
          <a:xfrm>
            <a:off x="457200" y="5600000"/>
            <a:ext cx="10972800" cy="600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400" dirty="0">
                <a:solidFill>
                  <a:srgbClr val="0078A9"/>
                </a:solidFill>
              </a:rPr>
              <a:t>💡 </a:t>
            </a:r>
            <a:r>
              <a:rPr lang="en-US" sz="1400" b="1" dirty="0">
                <a:solidFill>
                  <a:srgbClr val="0078A9"/>
                </a:solidFill>
              </a:rPr>
              <a:t>Think of it this way: </a:t>
            </a:r>
            <a:r>
              <a:rPr lang="en-US" sz="1400" dirty="0">
                <a:solidFill>
                  <a:srgbClr val="333333"/>
                </a:solidFill>
              </a:rPr>
              <a:t>RA = food in your fridge that’s about to expire (you might still use it).  MC = food that already expired — you have to throw it out (write it off).</a:t>
            </a:r>
          </a:p>
        </p:txBody>
      </p:sp>
    </p:spTree>
    <p:extLst>
      <p:ext uri="{BB962C8B-B14F-4D97-AF65-F5344CB8AC3E}">
        <p14:creationId xmlns:p14="http://schemas.microsoft.com/office/powerpoint/2010/main" val="66440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C51A1-9E7E-1C46-4585-737014D4E0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B8C3-C993-9F1F-0215-72C755870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PPG’s Malaysia plant currently lacks an automated, data-driven way to: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solidFill>
                  <a:srgbClr val="0078A9"/>
                </a:solidFill>
              </a:rPr>
              <a:t>Identify excess stock</a:t>
            </a:r>
            <a:r>
              <a:rPr lang="en-US" sz="1600" dirty="0">
                <a:solidFill>
                  <a:srgbClr val="333333"/>
                </a:solidFill>
              </a:rPr>
              <a:t> — which raw materials exceed 12 months of consumption (Recoverable Assets)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b="1" dirty="0">
                <a:solidFill>
                  <a:srgbClr val="0078A9"/>
                </a:solidFill>
              </a:rPr>
              <a:t>Flag write-downs</a:t>
            </a:r>
            <a:r>
              <a:rPr lang="en-US" sz="1600" dirty="0">
                <a:solidFill>
                  <a:srgbClr val="333333"/>
                </a:solidFill>
              </a:rPr>
              <a:t> — materials qualifying as Magna Carta Dead Stock or Expired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b="1" dirty="0">
                <a:solidFill>
                  <a:srgbClr val="0078A9"/>
                </a:solidFill>
              </a:rPr>
              <a:t>Quantify financial impact</a:t>
            </a:r>
            <a:r>
              <a:rPr lang="en-US" sz="1600" dirty="0">
                <a:solidFill>
                  <a:srgbClr val="333333"/>
                </a:solidFill>
              </a:rPr>
              <a:t> — total provision amount for Magna Carta materials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b="1" dirty="0">
                <a:solidFill>
                  <a:srgbClr val="0078A9"/>
                </a:solidFill>
              </a:rPr>
              <a:t>Detect stockout risk</a:t>
            </a:r>
            <a:r>
              <a:rPr lang="en-US" sz="1600" dirty="0">
                <a:solidFill>
                  <a:srgbClr val="333333"/>
                </a:solidFill>
              </a:rPr>
              <a:t> — materials running critically low relative to their lead time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600" b="1" dirty="0">
                <a:solidFill>
                  <a:srgbClr val="0078A9"/>
                </a:solidFill>
              </a:rPr>
              <a:t>Trace customer impact</a:t>
            </a:r>
            <a:r>
              <a:rPr lang="en-US" sz="1600" dirty="0">
                <a:solidFill>
                  <a:srgbClr val="333333"/>
                </a:solidFill>
              </a:rPr>
              <a:t> — which open sales orders are affected by shortages</a:t>
            </a:r>
          </a:p>
          <a:p>
            <a:pPr>
              <a:spcBef>
                <a:spcPts val="800"/>
              </a:spcBef>
              <a:buNone/>
            </a:pPr>
            <a:r>
              <a:rPr lang="en-US" sz="1600" i="1" dirty="0">
                <a:solidFill>
                  <a:srgbClr val="666666"/>
                </a:solidFill>
              </a:rPr>
              <a:t>Your task: build an end-to-end data pipeline that solves this problem.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B7D08D-F43D-2B99-DF89-14DBEF35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8A9"/>
                </a:solidFill>
              </a:rPr>
              <a:t>The Business Problem</a:t>
            </a:r>
          </a:p>
        </p:txBody>
      </p:sp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94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DA6F6-BC89-C283-CAD1-C055F4ED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D62AD7-FD7A-956D-7BFE-704F4652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8A9"/>
                </a:solidFill>
              </a:rPr>
              <a:t>Source Data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1794DE-8F38-4FB2-BFA7-67EF962362D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05000"/>
          <a:ext cx="11277600" cy="3937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2021967"/>
                    </a:ext>
                  </a:extLst>
                </a:gridCol>
                <a:gridCol w="8102600">
                  <a:extLst>
                    <a:ext uri="{9D8B030D-6E8A-4147-A177-3AD203B41FA5}">
                      <a16:colId xmlns:a16="http://schemas.microsoft.com/office/drawing/2014/main" val="18973304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pPr algn="ctr"/>
                      <a:r>
                        <a:rPr lang="en-MY" sz="15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anchor="ctr"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5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78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496595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  <a:latin typeface="Consolas"/>
                        </a:rPr>
                        <a:t>materials.csv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20 raw materials across 4 categories: Pigment, Resin, Solvent, Packaging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7386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  <a:latin typeface="Consolas"/>
                        </a:rPr>
                        <a:t>inventory_snapshot.csv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Monthly stock levels per material, including lot expiry dates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09995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  <a:latin typeface="Consolas"/>
                        </a:rPr>
                        <a:t>purchase_orders.csv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Purchase orders from 10 suppliers, including late and partial deliveries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881602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  <a:latin typeface="Consolas"/>
                        </a:rPr>
                        <a:t>production_orders.csv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Material consumption records for 10 finished paint products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713776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  <a:latin typeface="Consolas"/>
                        </a:rPr>
                        <a:t>suppliers.csv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Supplier reference data: name, country, reliability rating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2283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  <a:latin typeface="Consolas"/>
                        </a:rPr>
                        <a:t>sales_orders.csv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Customer sales orders, including open orders at risk due to shortage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96015"/>
                  </a:ext>
                </a:extLst>
              </a:tr>
            </a:tbl>
          </a:graphicData>
        </a:graphic>
      </p:graphicFrame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0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2F752E-BFB0-84F0-0110-4A05A3C170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46025C-8F81-01D6-93EC-87C431D6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78A9"/>
                </a:solidFill>
              </a:rPr>
              <a:t>What the Data Looks Like</a:t>
            </a:r>
            <a:endParaRPr lang="en-MY">
              <a:solidFill>
                <a:srgbClr val="0078A9"/>
              </a:solidFill>
            </a:endParaRPr>
          </a:p>
        </p:txBody>
      </p:sp>
      <p:cxnSp>
        <p:nvCxnSpPr>
          <p:cNvPr id="5" name="AccentLine">
            <a:extLst>
              <a:ext uri="{FF2B5EF4-FFF2-40B4-BE49-F238E27FC236}">
                <a16:creationId xmlns:a16="http://schemas.microsoft.com/office/drawing/2014/main" id="{A2EFDA2C-D477-4E47-B3C4-A88F16784C52}"/>
              </a:ext>
            </a:extLst>
          </p:cNvPr>
          <p:cNvCxnSpPr/>
          <p:nvPr/>
        </p:nvCxnSpPr>
        <p:spPr>
          <a:xfrm>
            <a:off x="457200" y="939800"/>
            <a:ext cx="1016000" cy="0"/>
          </a:xfrm>
          <a:prstGeom prst="straightConnector1">
            <a:avLst/>
          </a:prstGeom>
          <a:ln w="25400" cap="flat" cmpd="sng" algn="ctr">
            <a:solidFill>
              <a:srgbClr val="0078A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AD6939-AA8D-4751-B556-36BF9204D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23359"/>
              </p:ext>
            </p:extLst>
          </p:nvPr>
        </p:nvGraphicFramePr>
        <p:xfrm>
          <a:off x="457200" y="1524000"/>
          <a:ext cx="6350000" cy="166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63343772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920658048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62301895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77840001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material_id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material_name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unit_cost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9354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MAT-001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Titanium Dioxide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Pigment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$12.50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4435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MAT-005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Epoxy Resin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Resin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$28.00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40095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MAT-012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Methyl Ethyl Ketone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Solvent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$8.75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9246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D3AE3D-B1BC-40A0-8AE8-5E03895D3D28}"/>
              </a:ext>
            </a:extLst>
          </p:cNvPr>
          <p:cNvSpPr txBox="1"/>
          <p:nvPr/>
        </p:nvSpPr>
        <p:spPr>
          <a:xfrm>
            <a:off x="457200" y="1244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MY" sz="1400" b="1">
                <a:solidFill>
                  <a:srgbClr val="0078A9"/>
                </a:solidFill>
              </a:rPr>
              <a:t>materials.csv  (sample)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A41BABB-A651-4A11-A252-45D7C57DE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643825"/>
              </p:ext>
            </p:extLst>
          </p:nvPr>
        </p:nvGraphicFramePr>
        <p:xfrm>
          <a:off x="457200" y="3937000"/>
          <a:ext cx="6350000" cy="166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4438181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55441322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67343808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41190967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material_id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snapshot_month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qty_on_hand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lot_expiry_date</a:t>
                      </a:r>
                    </a:p>
                  </a:txBody>
                  <a:tcPr>
                    <a:solidFill>
                      <a:srgbClr val="0078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08379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MAT-001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2025-01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5,200 kg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2025-09-15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69884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MAT-005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2025-01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180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9628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MAT-012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2025-01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3,400 L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2024-11-30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9742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9A805A2-6EBC-4681-A3BF-2028F17A17BD}"/>
              </a:ext>
            </a:extLst>
          </p:cNvPr>
          <p:cNvSpPr txBox="1"/>
          <p:nvPr/>
        </p:nvSpPr>
        <p:spPr>
          <a:xfrm>
            <a:off x="457200" y="36195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MY" sz="1400" b="1">
                <a:solidFill>
                  <a:srgbClr val="0078A9"/>
                </a:solidFill>
              </a:rPr>
              <a:t>inventory_snapshot.csv  (sample)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12EF6-CBE3-46E6-929B-1727A33E5F8C}"/>
              </a:ext>
            </a:extLst>
          </p:cNvPr>
          <p:cNvSpPr txBox="1"/>
          <p:nvPr/>
        </p:nvSpPr>
        <p:spPr>
          <a:xfrm>
            <a:off x="7112000" y="1524000"/>
            <a:ext cx="4826000" cy="419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What to notice:
→ MAT-012 has a lot_expiry_date in the past (2024-11-30) — this would be flagged as Magna Carta Expired
→ MAT-005 has no expiry date — check if it's been consumed recently to determine Dead Stock status
→ Compare qty_on_hand against 12-month consumption to find Recoverable Assets
Your pipeline needs to connect these tables and apply the business rules automatically.</a:t>
            </a:r>
            <a:endParaRPr lang="en-MY" sz="140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8E379A-808E-6709-4F58-78986EA1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A5440D-F499-849A-94C5-A2B76B7C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>
                <a:solidFill>
                  <a:srgbClr val="0078A9"/>
                </a:solidFill>
              </a:rPr>
              <a:t>Pipeline Architecture: Bronze → Silver → Gold → Curated</a:t>
            </a:r>
          </a:p>
        </p:txBody>
      </p:sp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SourceFiles"/>
          <p:cNvSpPr/>
          <p:nvPr/>
        </p:nvSpPr>
        <p:spPr>
          <a:xfrm>
            <a:off x="457200" y="1350000"/>
            <a:ext cx="1890000" cy="4100000"/>
          </a:xfrm>
          <a:prstGeom prst="roundRect">
            <a:avLst>
              <a:gd name="adj" fmla="val 5000"/>
            </a:avLst>
          </a:prstGeom>
          <a:solidFill>
            <a:srgbClr val="2B579A"/>
          </a:solidFill>
          <a:ln w="0">
            <a:noFill/>
          </a:ln>
        </p:spPr>
        <p:txBody>
          <a:bodyPr wrap="square" lIns="45720" tIns="91440" rIns="45720" bIns="4572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 FILES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materials.csv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inventory_snapshot.csv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purchase_orders.csv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production_orders.csv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suppliers.csv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sales_orders.csv</a:t>
            </a:r>
          </a:p>
        </p:txBody>
      </p:sp>
      <p:sp>
        <p:nvSpPr>
          <p:cNvPr id="201" name="Bronze"/>
          <p:cNvSpPr/>
          <p:nvPr/>
        </p:nvSpPr>
        <p:spPr>
          <a:xfrm>
            <a:off x="2677400" y="1350000"/>
            <a:ext cx="1890000" cy="4100000"/>
          </a:xfrm>
          <a:prstGeom prst="roundRect">
            <a:avLst>
              <a:gd name="adj" fmla="val 5000"/>
            </a:avLst>
          </a:prstGeom>
          <a:solidFill>
            <a:srgbClr val="7B3F00"/>
          </a:solidFill>
          <a:ln w="0">
            <a:noFill/>
          </a:ln>
        </p:spPr>
        <p:txBody>
          <a:bodyPr wrap="square" lIns="45720" tIns="91440" rIns="45720" bIns="4572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BRONZE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Raw Ingestion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Load CSVs as-is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No transformations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Preserve original data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Basic quality checks</a:t>
            </a:r>
          </a:p>
        </p:txBody>
      </p:sp>
      <p:sp>
        <p:nvSpPr>
          <p:cNvPr id="202" name="Silver"/>
          <p:cNvSpPr/>
          <p:nvPr/>
        </p:nvSpPr>
        <p:spPr>
          <a:xfrm>
            <a:off x="4897600" y="1350000"/>
            <a:ext cx="1890000" cy="4100000"/>
          </a:xfrm>
          <a:prstGeom prst="roundRect">
            <a:avLst>
              <a:gd name="adj" fmla="val 5000"/>
            </a:avLst>
          </a:prstGeom>
          <a:solidFill>
            <a:srgbClr val="3D4F5F"/>
          </a:solidFill>
          <a:ln w="0">
            <a:noFill/>
          </a:ln>
        </p:spPr>
        <p:txBody>
          <a:bodyPr wrap="square" lIns="45720" tIns="91440" rIns="45720" bIns="4572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SILVER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Cleaned Data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Same structure as Bronze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Remove duplicates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Fix nulls &amp; data types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Standardize formats</a:t>
            </a:r>
          </a:p>
        </p:txBody>
      </p:sp>
      <p:sp>
        <p:nvSpPr>
          <p:cNvPr id="203" name="Gold"/>
          <p:cNvSpPr/>
          <p:nvPr/>
        </p:nvSpPr>
        <p:spPr>
          <a:xfrm>
            <a:off x="7117800" y="1350000"/>
            <a:ext cx="1890000" cy="4100000"/>
          </a:xfrm>
          <a:prstGeom prst="roundRect">
            <a:avLst>
              <a:gd name="adj" fmla="val 5000"/>
            </a:avLst>
          </a:prstGeom>
          <a:solidFill>
            <a:srgbClr val="8B6914"/>
          </a:solidFill>
          <a:ln w="0">
            <a:noFill/>
          </a:ln>
        </p:spPr>
        <p:txBody>
          <a:bodyPr wrap="square" lIns="45720" tIns="91440" rIns="45720" bIns="4572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GOLD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Transformed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Apply RA/MC logic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Calculate consumption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Flag stockout risk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Compute provisions</a:t>
            </a:r>
          </a:p>
        </p:txBody>
      </p:sp>
      <p:sp>
        <p:nvSpPr>
          <p:cNvPr id="204" name="Curated"/>
          <p:cNvSpPr/>
          <p:nvPr/>
        </p:nvSpPr>
        <p:spPr>
          <a:xfrm>
            <a:off x="9338000" y="1350000"/>
            <a:ext cx="1890000" cy="4100000"/>
          </a:xfrm>
          <a:prstGeom prst="roundRect">
            <a:avLst>
              <a:gd name="adj" fmla="val 5000"/>
            </a:avLst>
          </a:prstGeom>
          <a:solidFill>
            <a:srgbClr val="0078A9"/>
          </a:solidFill>
          <a:ln w="0">
            <a:noFill/>
          </a:ln>
        </p:spPr>
        <p:txBody>
          <a:bodyPr wrap="square" lIns="45720" tIns="91440" rIns="45720" bIns="45720" anchor="t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CURATED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Project-Ready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Star schema design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fact_inventory_status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Dimension tables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Dashboard-ready</a:t>
            </a:r>
          </a:p>
        </p:txBody>
      </p:sp>
      <p:sp>
        <p:nvSpPr>
          <p:cNvPr id="210" name="Arrow210"/>
          <p:cNvSpPr/>
          <p:nvPr/>
        </p:nvSpPr>
        <p:spPr>
          <a:xfrm>
            <a:off x="2398000" y="3400000"/>
            <a:ext cx="228600" cy="0"/>
          </a:xfrm>
          <a:prstGeom prst="line">
            <a:avLst/>
          </a:prstGeom>
          <a:ln w="25400">
            <a:solidFill>
              <a:srgbClr val="0078A9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Arrow211"/>
          <p:cNvSpPr/>
          <p:nvPr/>
        </p:nvSpPr>
        <p:spPr>
          <a:xfrm>
            <a:off x="4618200" y="3400000"/>
            <a:ext cx="228600" cy="0"/>
          </a:xfrm>
          <a:prstGeom prst="line">
            <a:avLst/>
          </a:prstGeom>
          <a:ln w="25400">
            <a:solidFill>
              <a:srgbClr val="0078A9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Arrow212"/>
          <p:cNvSpPr/>
          <p:nvPr/>
        </p:nvSpPr>
        <p:spPr>
          <a:xfrm>
            <a:off x="6838400" y="3400000"/>
            <a:ext cx="228600" cy="0"/>
          </a:xfrm>
          <a:prstGeom prst="line">
            <a:avLst/>
          </a:prstGeom>
          <a:ln w="25400">
            <a:solidFill>
              <a:srgbClr val="0078A9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Arrow213"/>
          <p:cNvSpPr/>
          <p:nvPr/>
        </p:nvSpPr>
        <p:spPr>
          <a:xfrm>
            <a:off x="9058600" y="3400000"/>
            <a:ext cx="228600" cy="0"/>
          </a:xfrm>
          <a:prstGeom prst="line">
            <a:avLst/>
          </a:prstGeom>
          <a:ln w="25400">
            <a:solidFill>
              <a:srgbClr val="0078A9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6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F40400-5E7B-679A-AAAA-E9860B45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12F303-6CE7-6681-48CF-B9A123A0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8A9"/>
                </a:solidFill>
              </a:rPr>
              <a:t>What to Build: Layer by Layer</a:t>
            </a:r>
          </a:p>
        </p:txBody>
      </p:sp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rdBg1"/>
          <p:cNvSpPr/>
          <p:nvPr/>
        </p:nvSpPr>
        <p:spPr>
          <a:xfrm>
            <a:off x="457200" y="1500000"/>
            <a:ext cx="2800000" cy="4826000"/>
          </a:xfrm>
          <a:prstGeom prst="roundRect">
            <a:avLst>
              <a:gd name="adj" fmla="val 3000"/>
            </a:avLst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Accent1"/>
          <p:cNvSpPr/>
          <p:nvPr/>
        </p:nvSpPr>
        <p:spPr>
          <a:xfrm>
            <a:off x="457200" y="1500000"/>
            <a:ext cx="2800000" cy="76200"/>
          </a:xfrm>
          <a:prstGeom prst="roundRect">
            <a:avLst>
              <a:gd name="adj" fmla="val 0"/>
            </a:avLst>
          </a:prstGeom>
          <a:solidFill>
            <a:srgbClr val="7B3F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Text1"/>
          <p:cNvSpPr/>
          <p:nvPr/>
        </p:nvSpPr>
        <p:spPr>
          <a:xfrm>
            <a:off x="571500" y="1652400"/>
            <a:ext cx="2571400" cy="452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7B3F00"/>
                </a:solidFill>
              </a:rPr>
              <a:t>Layer 1 — Bronze</a:t>
            </a:r>
          </a:p>
          <a:p>
            <a:pPr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666666"/>
                </a:solidFill>
              </a:rPr>
              <a:t>Raw Ingestion (load as-is)</a:t>
            </a:r>
          </a:p>
          <a:p>
            <a:pPr>
              <a:spcBef>
                <a:spcPts val="300"/>
              </a:spcBef>
              <a:buNone/>
            </a:pPr>
            <a:endParaRPr lang="en-US" sz="200" dirty="0"/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Ingest all 6 CSVs into data lake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No changes to the data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Preserve original structure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Basic checks: nulls, types, duplicates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This is your raw backup</a:t>
            </a:r>
          </a:p>
        </p:txBody>
      </p:sp>
      <p:sp>
        <p:nvSpPr>
          <p:cNvPr id="210" name="CardBg2"/>
          <p:cNvSpPr/>
          <p:nvPr/>
        </p:nvSpPr>
        <p:spPr>
          <a:xfrm>
            <a:off x="3409600" y="1500000"/>
            <a:ext cx="2800000" cy="4826000"/>
          </a:xfrm>
          <a:prstGeom prst="roundRect">
            <a:avLst>
              <a:gd name="adj" fmla="val 3000"/>
            </a:avLst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Accent2"/>
          <p:cNvSpPr/>
          <p:nvPr/>
        </p:nvSpPr>
        <p:spPr>
          <a:xfrm>
            <a:off x="3409600" y="1500000"/>
            <a:ext cx="2800000" cy="76200"/>
          </a:xfrm>
          <a:prstGeom prst="roundRect">
            <a:avLst>
              <a:gd name="adj" fmla="val 0"/>
            </a:avLst>
          </a:prstGeom>
          <a:solidFill>
            <a:srgbClr val="3D4F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Text2"/>
          <p:cNvSpPr/>
          <p:nvPr/>
        </p:nvSpPr>
        <p:spPr>
          <a:xfrm>
            <a:off x="3523900" y="1652400"/>
            <a:ext cx="2571400" cy="452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3D4F5F"/>
                </a:solidFill>
              </a:rPr>
              <a:t>Layer 2 — Silver</a:t>
            </a:r>
          </a:p>
          <a:p>
            <a:pPr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666666"/>
                </a:solidFill>
              </a:rPr>
              <a:t>Cleaned Data (same structure)</a:t>
            </a:r>
          </a:p>
          <a:p>
            <a:pPr>
              <a:spcBef>
                <a:spcPts val="300"/>
              </a:spcBef>
              <a:buNone/>
            </a:pPr>
            <a:endParaRPr lang="en-US" sz="200" dirty="0"/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Same tables as Bronze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Remove duplicate rows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Fix null values &amp; wrong types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Standardize date formats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Clean, reliable version of raw data</a:t>
            </a:r>
          </a:p>
        </p:txBody>
      </p:sp>
      <p:sp>
        <p:nvSpPr>
          <p:cNvPr id="220" name="CardBg3"/>
          <p:cNvSpPr/>
          <p:nvPr/>
        </p:nvSpPr>
        <p:spPr>
          <a:xfrm>
            <a:off x="6362000" y="1500000"/>
            <a:ext cx="2800000" cy="4826000"/>
          </a:xfrm>
          <a:prstGeom prst="roundRect">
            <a:avLst>
              <a:gd name="adj" fmla="val 3000"/>
            </a:avLst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Accent3"/>
          <p:cNvSpPr/>
          <p:nvPr/>
        </p:nvSpPr>
        <p:spPr>
          <a:xfrm>
            <a:off x="6362000" y="1500000"/>
            <a:ext cx="2800000" cy="76200"/>
          </a:xfrm>
          <a:prstGeom prst="roundRect">
            <a:avLst>
              <a:gd name="adj" fmla="val 0"/>
            </a:avLst>
          </a:prstGeom>
          <a:solidFill>
            <a:srgbClr val="8B691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Text3"/>
          <p:cNvSpPr/>
          <p:nvPr/>
        </p:nvSpPr>
        <p:spPr>
          <a:xfrm>
            <a:off x="6476300" y="1652400"/>
            <a:ext cx="2571400" cy="452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8B6914"/>
                </a:solidFill>
              </a:rPr>
              <a:t>Layer 3 — Gold</a:t>
            </a:r>
          </a:p>
          <a:p>
            <a:pPr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666666"/>
                </a:solidFill>
              </a:rPr>
              <a:t>Transformed (business logic)</a:t>
            </a:r>
          </a:p>
          <a:p>
            <a:pPr>
              <a:spcBef>
                <a:spcPts val="300"/>
              </a:spcBef>
              <a:buNone/>
            </a:pPr>
            <a:endParaRPr lang="en-US" sz="200" dirty="0"/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Calculate 12-month consumption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Flag RA, MC Dead Stock, MC Expired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Compute MC provision amounts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Identify stockout risks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Trace impacted sales orders</a:t>
            </a:r>
          </a:p>
        </p:txBody>
      </p:sp>
      <p:sp>
        <p:nvSpPr>
          <p:cNvPr id="230" name="CardBg4"/>
          <p:cNvSpPr/>
          <p:nvPr/>
        </p:nvSpPr>
        <p:spPr>
          <a:xfrm>
            <a:off x="9314400" y="1500000"/>
            <a:ext cx="2800000" cy="4826000"/>
          </a:xfrm>
          <a:prstGeom prst="roundRect">
            <a:avLst>
              <a:gd name="adj" fmla="val 3000"/>
            </a:avLst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1" name="CardAccent4"/>
          <p:cNvSpPr/>
          <p:nvPr/>
        </p:nvSpPr>
        <p:spPr>
          <a:xfrm>
            <a:off x="9314400" y="1500000"/>
            <a:ext cx="2800000" cy="76200"/>
          </a:xfrm>
          <a:prstGeom prst="roundRect">
            <a:avLst>
              <a:gd name="adj" fmla="val 0"/>
            </a:avLst>
          </a:prstGeom>
          <a:solidFill>
            <a:srgbClr val="0078A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CardText4"/>
          <p:cNvSpPr/>
          <p:nvPr/>
        </p:nvSpPr>
        <p:spPr>
          <a:xfrm>
            <a:off x="9428700" y="1652400"/>
            <a:ext cx="2571400" cy="452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0078A9"/>
                </a:solidFill>
              </a:rPr>
              <a:t>Layer 4 — Curated</a:t>
            </a:r>
          </a:p>
          <a:p>
            <a:pPr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666666"/>
                </a:solidFill>
              </a:rPr>
              <a:t>Project-Ready (star schema)</a:t>
            </a:r>
          </a:p>
          <a:p>
            <a:pPr>
              <a:spcBef>
                <a:spcPts val="300"/>
              </a:spcBef>
              <a:buNone/>
            </a:pPr>
            <a:endParaRPr lang="en-US" sz="200" dirty="0"/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Central fact table: fact_inventory_status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Dimension tables: materials, suppliers, etc.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All RA/MC flags &amp; financial values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Ready for dashboards &amp; reporting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Answers all 7 business questions</a:t>
            </a:r>
          </a:p>
        </p:txBody>
      </p:sp>
    </p:spTree>
    <p:extLst>
      <p:ext uri="{BB962C8B-B14F-4D97-AF65-F5344CB8AC3E}">
        <p14:creationId xmlns:p14="http://schemas.microsoft.com/office/powerpoint/2010/main" val="211065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B124AE-88D1-D3FC-3C9C-67E633469E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299F-9EF5-0789-79B1-81680732F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0078A9"/>
                </a:solidFill>
              </a:rPr>
              <a:t>Q1  </a:t>
            </a:r>
            <a:r>
              <a:rPr lang="en-US" sz="1500" dirty="0">
                <a:solidFill>
                  <a:srgbClr val="333333"/>
                </a:solidFill>
              </a:rPr>
              <a:t>Which materials are currently below their reorder level?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0078A9"/>
                </a:solidFill>
              </a:rPr>
              <a:t>Q2  </a:t>
            </a:r>
            <a:r>
              <a:rPr lang="en-US" sz="1500" dirty="0">
                <a:solidFill>
                  <a:srgbClr val="333333"/>
                </a:solidFill>
              </a:rPr>
              <a:t>Which materials are classified as Recoverable Assets (stock exceeds 12-month consumption)?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0078A9"/>
                </a:solidFill>
              </a:rPr>
              <a:t>Q3  </a:t>
            </a:r>
            <a:r>
              <a:rPr lang="en-US" sz="1500" dirty="0">
                <a:solidFill>
                  <a:srgbClr val="333333"/>
                </a:solidFill>
              </a:rPr>
              <a:t>Which materials qualify as Magna Carta Dead Stock (no consumption for 9+ months)?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0078A9"/>
                </a:solidFill>
              </a:rPr>
              <a:t>Q4  </a:t>
            </a:r>
            <a:r>
              <a:rPr lang="en-US" sz="1500" dirty="0">
                <a:solidFill>
                  <a:srgbClr val="333333"/>
                </a:solidFill>
              </a:rPr>
              <a:t>Which materials qualify as Magna Carta Expired (lot expiry date has passed)?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0078A9"/>
                </a:solidFill>
              </a:rPr>
              <a:t>Q5  </a:t>
            </a:r>
            <a:r>
              <a:rPr lang="en-US" sz="1500" dirty="0">
                <a:solidFill>
                  <a:srgbClr val="333333"/>
                </a:solidFill>
              </a:rPr>
              <a:t>What is the total Magna Carta provision required (total financial write-down)?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0078A9"/>
                </a:solidFill>
              </a:rPr>
              <a:t>Q6  </a:t>
            </a:r>
            <a:r>
              <a:rPr lang="en-US" sz="1500" dirty="0">
                <a:solidFill>
                  <a:srgbClr val="333333"/>
                </a:solidFill>
              </a:rPr>
              <a:t>Were there any production orders that could not be fulfilled due to insufficient stock?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0078A9"/>
                </a:solidFill>
              </a:rPr>
              <a:t>Q7  </a:t>
            </a:r>
            <a:r>
              <a:rPr lang="en-US" sz="1500" dirty="0">
                <a:solidFill>
                  <a:srgbClr val="333333"/>
                </a:solidFill>
              </a:rPr>
              <a:t>For materials at stockout risk, which open sales orders and customers are affected?</a:t>
            </a:r>
          </a:p>
          <a:p>
            <a:pPr>
              <a:spcBef>
                <a:spcPts val="600"/>
              </a:spcBef>
              <a:buNone/>
            </a:pPr>
            <a:r>
              <a:rPr lang="en-US" sz="1400" i="1" dirty="0">
                <a:solidFill>
                  <a:srgbClr val="666666"/>
                </a:solidFill>
              </a:rPr>
              <a:t>⚠ Q7 is critical — it demonstrates the end-to-end connection between raw material inventory and customer order fulfilment.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1810C8-90E2-543A-C3D5-F44F6D1F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8A9"/>
                </a:solidFill>
              </a:rPr>
              <a:t>Business Questions to Answer</a:t>
            </a:r>
          </a:p>
        </p:txBody>
      </p:sp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5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4DBC4F-7873-8BB7-211D-397A187A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4343-C115-504A-8D4F-0B17318D4A48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872DB8-BD93-1564-9599-41FF0A7D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8A9"/>
                </a:solidFill>
              </a:rPr>
              <a:t>Final Deliverables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E86460-BCB0-45C9-B206-7BE01A2F6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65344"/>
              </p:ext>
            </p:extLst>
          </p:nvPr>
        </p:nvGraphicFramePr>
        <p:xfrm>
          <a:off x="457200" y="1651000"/>
          <a:ext cx="11277600" cy="431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137493769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170579112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3085140628"/>
                    </a:ext>
                  </a:extLst>
                </a:gridCol>
              </a:tblGrid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anchor="ctr">
                    <a:solidFill>
                      <a:srgbClr val="0078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078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329645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Data Generation 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Script to generate or extend the 6 synthetic CSV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500381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D2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Pipeline Architecture Diagram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Visual diagram: source files → Bronze → Silver → Gold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553693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Data Dictionary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Description of all tables and columns in the final data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927098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ETL/ELT Pipeline Code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Working source code for all three pipeline layers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050089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Star Schema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ER diagram of the final data model with justification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49995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Query Results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rgbClr val="333333"/>
                          </a:solidFill>
                        </a:rPr>
                        <a:t>SQL queries and output answering all  business questions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152423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>
                          <a:solidFill>
                            <a:srgbClr val="333333"/>
                          </a:solidFill>
                        </a:rPr>
                        <a:t>Interactive dashboard (Power BI or equivalent) showing RA/MC overview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574548"/>
                  </a:ext>
                </a:extLst>
              </a:tr>
              <a:tr h="479778">
                <a:tc>
                  <a:txBody>
                    <a:bodyPr/>
                    <a:lstStyle/>
                    <a:p>
                      <a:pPr algn="ctr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D8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b="1">
                          <a:solidFill>
                            <a:srgbClr val="333333"/>
                          </a:solidFill>
                        </a:rPr>
                        <a:t>Final Presentation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solidFill>
                            <a:srgbClr val="333333"/>
                          </a:solidFill>
                        </a:rPr>
                        <a:t>30-minute online presentation to PPG representatives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435990"/>
                  </a:ext>
                </a:extLst>
              </a:tr>
            </a:tbl>
          </a:graphicData>
        </a:graphic>
      </p:graphicFrame>
      <p:sp>
        <p:nvSpPr>
          <p:cNvPr id="100" name="AccentLine"/>
          <p:cNvSpPr/>
          <p:nvPr/>
        </p:nvSpPr>
        <p:spPr>
          <a:xfrm>
            <a:off x="457200" y="939800"/>
            <a:ext cx="1016000" cy="0"/>
          </a:xfrm>
          <a:prstGeom prst="line">
            <a:avLst/>
          </a:prstGeom>
          <a:ln w="25400">
            <a:solidFill>
              <a:srgbClr val="0078A9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60684"/>
      </p:ext>
    </p:extLst>
  </p:cSld>
  <p:clrMapOvr>
    <a:masterClrMapping/>
  </p:clrMapOvr>
</p:sld>
</file>

<file path=ppt/theme/theme1.xml><?xml version="1.0" encoding="utf-8"?>
<a:theme xmlns:a="http://schemas.openxmlformats.org/drawingml/2006/main" name="PPG">
  <a:themeElements>
    <a:clrScheme name="PPG 2023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0078A9"/>
      </a:accent1>
      <a:accent2>
        <a:srgbClr val="3EC7F4"/>
      </a:accent2>
      <a:accent3>
        <a:srgbClr val="0033A0"/>
      </a:accent3>
      <a:accent4>
        <a:srgbClr val="00B149"/>
      </a:accent4>
      <a:accent5>
        <a:srgbClr val="D0006F"/>
      </a:accent5>
      <a:accent6>
        <a:srgbClr val="FF7C13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t" anchorCtr="0"/>
      <a:lstStyle>
        <a:defPPr algn="l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PPG_ppt_template_240311" id="{E3865F3B-FD20-4D44-8FA8-64D438832184}" vid="{386EC6E9-0F9C-0844-AA53-056BA8EC7D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A07836-DA8E-4663-B033-4054BA7DB279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dfd1e5e-bb06-40df-8eeb-2a295fe4dda5}" enabled="0" method="" siteId="{9dfd1e5e-bb06-40df-8eeb-2a295fe4dda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1085</Words>
  <Application>Microsoft Office PowerPoint</Application>
  <PresentationFormat>Widescreen</PresentationFormat>
  <Paragraphs>194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PPG</vt:lpstr>
      <vt:lpstr>Use Case</vt:lpstr>
      <vt:lpstr>About PPG &amp; the Business Context</vt:lpstr>
      <vt:lpstr>RA &amp; Magna Carta Classification</vt:lpstr>
      <vt:lpstr>The Business Problem</vt:lpstr>
      <vt:lpstr>Source Data Overview</vt:lpstr>
      <vt:lpstr>What the Data Looks Like</vt:lpstr>
      <vt:lpstr>Pipeline Architecture: Bronze → Silver → Gold → Curated</vt:lpstr>
      <vt:lpstr>What to Build: Layer by Layer</vt:lpstr>
      <vt:lpstr>Business Questions to Answer</vt:lpstr>
      <vt:lpstr>Final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Ong, Sui Chin [C]</dc:creator>
  <cp:lastModifiedBy>Lee, Man Shin (MAL)</cp:lastModifiedBy>
  <cp:revision>7</cp:revision>
  <dcterms:created xsi:type="dcterms:W3CDTF">2022-12-28T01:50:43Z</dcterms:created>
  <dcterms:modified xsi:type="dcterms:W3CDTF">2026-04-14T00:20:59Z</dcterms:modified>
</cp:coreProperties>
</file>